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2c51e655b4b27" /><Relationship Type="http://schemas.openxmlformats.org/officeDocument/2006/relationships/extended-properties" Target="/docProps/app.xml" Id="Rd342ff3df8734780" /><Relationship Type="http://schemas.openxmlformats.org/officeDocument/2006/relationships/officeDocument" Target="/ppt/presentation.xml" Id="Re8baf528b8c6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2e1ffb9997403f"/>
  </p:sldMasterIdLst>
  <p:notesMasterIdLst>
    <p:notesMasterId xmlns:r="http://schemas.openxmlformats.org/officeDocument/2006/relationships" r:id="Rbb753c33bf144194"/>
  </p:notesMasterIdLst>
  <p:sldIdLst>
    <p:sldId xmlns:r="http://schemas.openxmlformats.org/officeDocument/2006/relationships" id="256" r:id="Rf4224633a4ff4829"/>
    <p:sldId xmlns:r="http://schemas.openxmlformats.org/officeDocument/2006/relationships" id="257" r:id="R55dc7b7f40574a3d"/>
    <p:sldId xmlns:r="http://schemas.openxmlformats.org/officeDocument/2006/relationships" id="258" r:id="R1458ffff749d45e7"/>
    <p:sldId xmlns:r="http://schemas.openxmlformats.org/officeDocument/2006/relationships" id="259" r:id="Re4b49b69859b47f1"/>
    <p:sldId xmlns:r="http://schemas.openxmlformats.org/officeDocument/2006/relationships" id="260" r:id="Rd4fac0c305cc4b1d"/>
    <p:sldId xmlns:r="http://schemas.openxmlformats.org/officeDocument/2006/relationships" id="261" r:id="R9fbe72e05bc042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7595820df543cb" /><Relationship Type="http://schemas.openxmlformats.org/officeDocument/2006/relationships/slideMaster" Target="/ppt/slideMasters/slideMaster1.xml" Id="R112e1ffb9997403f" /><Relationship Type="http://schemas.openxmlformats.org/officeDocument/2006/relationships/notesMaster" Target="/ppt/notesMasters/notesMaster1.xml" Id="Rbb753c33bf144194" /><Relationship Type="http://schemas.openxmlformats.org/officeDocument/2006/relationships/presProps" Target="/ppt/presProps.xml" Id="Re16cf8d189cf47ba" /><Relationship Type="http://schemas.openxmlformats.org/officeDocument/2006/relationships/tableStyles" Target="/ppt/tableStyles.xml" Id="R819684ee36154861" /><Relationship Type="http://schemas.openxmlformats.org/officeDocument/2006/relationships/slide" Target="/ppt/slides/slide1.xml" Id="Rf4224633a4ff4829" /><Relationship Type="http://schemas.openxmlformats.org/officeDocument/2006/relationships/slide" Target="/ppt/slides/slide2.xml" Id="R55dc7b7f40574a3d" /><Relationship Type="http://schemas.openxmlformats.org/officeDocument/2006/relationships/slide" Target="/ppt/slides/slide3.xml" Id="R1458ffff749d45e7" /><Relationship Type="http://schemas.openxmlformats.org/officeDocument/2006/relationships/slide" Target="/ppt/slides/slide4.xml" Id="Re4b49b69859b47f1" /><Relationship Type="http://schemas.openxmlformats.org/officeDocument/2006/relationships/slide" Target="/ppt/slides/slide5.xml" Id="Rd4fac0c305cc4b1d" /><Relationship Type="http://schemas.openxmlformats.org/officeDocument/2006/relationships/slide" Target="/ppt/slides/slide6.xml" Id="R9fbe72e05bc042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0ecf1329014f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15a787a204cc8" /><Relationship Type="http://schemas.openxmlformats.org/officeDocument/2006/relationships/notesMaster" Target="/ppt/notesMasters/notesMaster1.xml" Id="Re58793f1998d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4b3c03e554bb3" /><Relationship Type="http://schemas.openxmlformats.org/officeDocument/2006/relationships/notesMaster" Target="/ppt/notesMasters/notesMaster1.xml" Id="R95488a3612254f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ef51df2bf4869" /><Relationship Type="http://schemas.openxmlformats.org/officeDocument/2006/relationships/notesMaster" Target="/ppt/notesMasters/notesMaster1.xml" Id="Ra9e72a3166c949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d0381212234cd3" /><Relationship Type="http://schemas.openxmlformats.org/officeDocument/2006/relationships/notesMaster" Target="/ppt/notesMasters/notesMaster1.xml" Id="Rd31b7cc40aaa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a7645f4244b83" /><Relationship Type="http://schemas.openxmlformats.org/officeDocument/2006/relationships/notesMaster" Target="/ppt/notesMasters/notesMaster1.xml" Id="R10b4b0195640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3f2d465374c8d" /><Relationship Type="http://schemas.openxmlformats.org/officeDocument/2006/relationships/notesMaster" Target="/ppt/notesMasters/notesMaster1.xml" Id="Re7d6e2c01212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tomados de RESULTADOS_FINALES.md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y flujo descritos en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Estadísticas de README.md y RESULTADOS_FINALES.md.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 Score baseline 0.1806 y LoRA 0.7222 según RESULTADOS_FINALES.md.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Configuración y hardware según RESULTADOS_FINALES.md.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Conclusiones basadas en RESULTADOS_FINALES.md.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357bbc6bb4a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45dd2ea8245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cab5cc44d45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b1af62bca49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9bef20c7b4a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104e3116d40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BC56F6-CF4C-4EBA-B636-E66C68853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537874-B5F9-4886-9A1B-041B2780D4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33864A-4E97-447E-B37E-5279C41FE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72CE99-76DF-483E-A4AC-4CE9B9C70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BB626C-7196-48F5-9065-6577641E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4A3504-70A5-468B-B9AC-27FA5DFF8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D6FBED-9D00-4494-AA85-5DA54F888E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80ED4A-8A53-4167-BD5D-7CDAE143FA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F8CFAE-EECE-4A14-AB1D-F44871C35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E8008E-12BA-453C-AA01-FBE4070AB0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823d1bd76425d" /><Relationship Type="http://schemas.openxmlformats.org/officeDocument/2006/relationships/slideLayout" Target="/ppt/slideLayouts/slideLayout1.xml" Id="R4e62b42747a04957" /><Relationship Type="http://schemas.openxmlformats.org/officeDocument/2006/relationships/slideLayout" Target="/ppt/slideLayouts/slideLayout2.xml" Id="Rafdeeb1d4057406f" /><Relationship Type="http://schemas.openxmlformats.org/officeDocument/2006/relationships/slideLayout" Target="/ppt/slideLayouts/slideLayout3.xml" Id="Ra66d7278921642dc" /><Relationship Type="http://schemas.openxmlformats.org/officeDocument/2006/relationships/slideLayout" Target="/ppt/slideLayouts/slideLayout4.xml" Id="Rc657c4acdb58422e" /><Relationship Type="http://schemas.openxmlformats.org/officeDocument/2006/relationships/slideLayout" Target="/ppt/slideLayouts/slideLayout5.xml" Id="R3e931452cfb04c30" /><Relationship Type="http://schemas.openxmlformats.org/officeDocument/2006/relationships/slideLayout" Target="/ppt/slideLayouts/slideLayout6.xml" Id="Rf2b0ae8c3787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2b42747a04957"/>
    <p:sldLayoutId xmlns:r="http://schemas.openxmlformats.org/officeDocument/2006/relationships" id="2147483650" r:id="Rafdeeb1d4057406f"/>
    <p:sldLayoutId xmlns:r="http://schemas.openxmlformats.org/officeDocument/2006/relationships" id="2147483651" r:id="Ra66d7278921642dc"/>
    <p:sldLayoutId xmlns:r="http://schemas.openxmlformats.org/officeDocument/2006/relationships" id="2147483652" r:id="Rc657c4acdb58422e"/>
    <p:sldLayoutId xmlns:r="http://schemas.openxmlformats.org/officeDocument/2006/relationships" id="2147483653" r:id="R3e931452cfb04c30"/>
    <p:sldLayoutId xmlns:r="http://schemas.openxmlformats.org/officeDocument/2006/relationships" id="2147483654" r:id="Rf2b0ae8c3787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7834be0f24fd9" /><Relationship Type="http://schemas.openxmlformats.org/officeDocument/2006/relationships/notesSlide" Target="/ppt/notesSlides/notesSlide1.xml" Id="R5c367c7f917c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734d5438347d7" /><Relationship Type="http://schemas.openxmlformats.org/officeDocument/2006/relationships/notesSlide" Target="/ppt/notesSlides/notesSlide2.xml" Id="Ra150b190777d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2c604129c4ddb" /><Relationship Type="http://schemas.openxmlformats.org/officeDocument/2006/relationships/notesSlide" Target="/ppt/notesSlides/notesSlide3.xml" Id="R61aea2f150ea47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49ef2753b45ff" /><Relationship Type="http://schemas.openxmlformats.org/officeDocument/2006/relationships/chart" Target="/ppt/slides/charts/chart1.xml" Id="R7bdfce4b20ef412e" /><Relationship Type="http://schemas.openxmlformats.org/officeDocument/2006/relationships/notesSlide" Target="/ppt/notesSlides/notesSlide4.xml" Id="R1003cd1e19854d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1f7f10b9d4030" /><Relationship Type="http://schemas.openxmlformats.org/officeDocument/2006/relationships/notesSlide" Target="/ppt/notesSlides/notesSlide5.xml" Id="Ra104c5440ebf40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2ece0c20c4337" /><Relationship Type="http://schemas.openxmlformats.org/officeDocument/2006/relationships/notesSlide" Target="/ppt/notesSlides/notesSlide6.xml" Id="R100db75170974d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EX Score</c:v>
          </c:tx>
          <c:spPr>
            <a:solidFill xmlns:a="http://schemas.openxmlformats.org/drawingml/2006/main">
              <a:srgbClr val="1677C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Baseline</c:v>
                </c:pt>
                <c:pt idx="1">
                  <c:v>Fine-tuned con LoRA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0.1806</c:v>
                </c:pt>
                <c:pt idx="1">
                  <c:v>0.7222</c:v>
                </c:pt>
              </c:numCache>
            </c:numRef>
          </c:val>
        </c:ser>
        <c:dLbls>
          <c:numFmt formatCode="0.0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6BD07-1818-4736-9897-67605EA2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FBE70-B03D-4BA8-B687-B5B260E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0"/>
            <a:ext cx="4524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C06CA-604D-4184-8AA2-6A61A2E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0"/>
            <a:ext cx="3667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03CB-45AA-4807-B822-49B3C50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56D5F2"/>
                </a:solidFill>
              </a:defRPr>
            </a:defPPr>
            <a:lvl1pPr>
              <a:defRPr sz="1200" b="1" i="0">
                <a:solidFill>
                  <a:srgbClr val="56D5F2"/>
                </a:solidFill>
              </a:defRPr>
            </a:lvl1pPr>
            <a:lvl2pPr>
              <a:defRPr sz="1200" b="1" i="0">
                <a:solidFill>
                  <a:srgbClr val="56D5F2"/>
                </a:solidFill>
              </a:defRPr>
            </a:lvl2pPr>
            <a:lvl3pPr>
              <a:defRPr sz="1200" b="1" i="0">
                <a:solidFill>
                  <a:srgbClr val="56D5F2"/>
                </a:solidFill>
              </a:defRPr>
            </a:lvl3pPr>
            <a:lvl4pPr>
              <a:defRPr sz="1200" b="1" i="0">
                <a:solidFill>
                  <a:srgbClr val="56D5F2"/>
                </a:solidFill>
              </a:defRPr>
            </a:lvl4pPr>
            <a:lvl5pPr>
              <a:defRPr sz="1200" b="1" i="0">
                <a:solidFill>
                  <a:srgbClr val="56D5F2"/>
                </a:solidFill>
              </a:defRPr>
            </a:lvl5pPr>
            <a:lvl6pPr>
              <a:defRPr sz="1200" b="1" i="0">
                <a:solidFill>
                  <a:srgbClr val="56D5F2"/>
                </a:solidFill>
              </a:defRPr>
            </a:lvl6pPr>
            <a:lvl7pPr>
              <a:defRPr sz="1200" b="1" i="0">
                <a:solidFill>
                  <a:srgbClr val="56D5F2"/>
                </a:solidFill>
              </a:defRPr>
            </a:lvl7pPr>
            <a:lvl8pPr>
              <a:defRPr sz="1200" b="1" i="0">
                <a:solidFill>
                  <a:srgbClr val="56D5F2"/>
                </a:solidFill>
              </a:defRPr>
            </a:lvl8pPr>
            <a:lvl9pPr>
              <a:defRPr sz="1200" b="1" i="0">
                <a:solidFill>
                  <a:srgbClr val="56D5F2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56D5F2"/>
                </a:solidFill>
              </a:defRPr>
            </a:pPr>
            <a:r>
              <a:rPr sz="1200" b="1" i="0">
                <a:solidFill>
                  <a:srgbClr val="56D5F2"/>
                </a:solidFill>
              </a:rPr>
              <a:t>Proyecto de Deep Learning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43DBF-8083-4E83-97D3-9952E6E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050" b="1" i="0">
                <a:solidFill>
                  <a:srgbClr val="FFFFFF"/>
                </a:solidFill>
              </a:defRPr>
            </a:defPPr>
            <a:lvl1pPr>
              <a:defRPr sz="4050" b="1" i="0">
                <a:solidFill>
                  <a:srgbClr val="FFFFFF"/>
                </a:solidFill>
              </a:defRPr>
            </a:lvl1pPr>
            <a:lvl2pPr>
              <a:defRPr sz="4050" b="1" i="0">
                <a:solidFill>
                  <a:srgbClr val="FFFFFF"/>
                </a:solidFill>
              </a:defRPr>
            </a:lvl2pPr>
            <a:lvl3pPr>
              <a:defRPr sz="4050" b="1" i="0">
                <a:solidFill>
                  <a:srgbClr val="FFFFFF"/>
                </a:solidFill>
              </a:defRPr>
            </a:lvl3pPr>
            <a:lvl4pPr>
              <a:defRPr sz="4050" b="1" i="0">
                <a:solidFill>
                  <a:srgbClr val="FFFFFF"/>
                </a:solidFill>
              </a:defRPr>
            </a:lvl4pPr>
            <a:lvl5pPr>
              <a:defRPr sz="4050" b="1" i="0">
                <a:solidFill>
                  <a:srgbClr val="FFFFFF"/>
                </a:solidFill>
              </a:defRPr>
            </a:lvl5pPr>
            <a:lvl6pPr>
              <a:defRPr sz="4050" b="1" i="0">
                <a:solidFill>
                  <a:srgbClr val="FFFFFF"/>
                </a:solidFill>
              </a:defRPr>
            </a:lvl6pPr>
            <a:lvl7pPr>
              <a:defRPr sz="4050" b="1" i="0">
                <a:solidFill>
                  <a:srgbClr val="FFFFFF"/>
                </a:solidFill>
              </a:defRPr>
            </a:lvl7pPr>
            <a:lvl8pPr>
              <a:defRPr sz="4050" b="1" i="0">
                <a:solidFill>
                  <a:srgbClr val="FFFFFF"/>
                </a:solidFill>
              </a:defRPr>
            </a:lvl8pPr>
            <a:lvl9pPr>
              <a:defRPr sz="40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Text-to-SQL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con LoRA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F259-BA37-4CC5-9949-67E0D5A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 i="0">
                <a:solidFill>
                  <a:srgbClr val="D9E8F7"/>
                </a:solidFill>
              </a:defRPr>
            </a:defPPr>
            <a:lvl1pPr>
              <a:defRPr sz="1650" b="0" i="0">
                <a:solidFill>
                  <a:srgbClr val="D9E8F7"/>
                </a:solidFill>
              </a:defRPr>
            </a:lvl1pPr>
            <a:lvl2pPr>
              <a:defRPr sz="1650" b="0" i="0">
                <a:solidFill>
                  <a:srgbClr val="D9E8F7"/>
                </a:solidFill>
              </a:defRPr>
            </a:lvl2pPr>
            <a:lvl3pPr>
              <a:defRPr sz="1650" b="0" i="0">
                <a:solidFill>
                  <a:srgbClr val="D9E8F7"/>
                </a:solidFill>
              </a:defRPr>
            </a:lvl3pPr>
            <a:lvl4pPr>
              <a:defRPr sz="1650" b="0" i="0">
                <a:solidFill>
                  <a:srgbClr val="D9E8F7"/>
                </a:solidFill>
              </a:defRPr>
            </a:lvl4pPr>
            <a:lvl5pPr>
              <a:defRPr sz="1650" b="0" i="0">
                <a:solidFill>
                  <a:srgbClr val="D9E8F7"/>
                </a:solidFill>
              </a:defRPr>
            </a:lvl5pPr>
            <a:lvl6pPr>
              <a:defRPr sz="1650" b="0" i="0">
                <a:solidFill>
                  <a:srgbClr val="D9E8F7"/>
                </a:solidFill>
              </a:defRPr>
            </a:lvl6pPr>
            <a:lvl7pPr>
              <a:defRPr sz="1650" b="0" i="0">
                <a:solidFill>
                  <a:srgbClr val="D9E8F7"/>
                </a:solidFill>
              </a:defRPr>
            </a:lvl7pPr>
            <a:lvl8pPr>
              <a:defRPr sz="1650" b="0" i="0">
                <a:solidFill>
                  <a:srgbClr val="D9E8F7"/>
                </a:solidFill>
              </a:defRPr>
            </a:lvl8pPr>
            <a:lvl9pPr>
              <a:defRPr sz="1650" b="0" i="0">
                <a:solidFill>
                  <a:srgbClr val="D9E8F7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D9E8F7"/>
                </a:solidFill>
              </a:defRPr>
            </a:pPr>
            <a:r>
              <a:rPr sz="1650" b="0" i="0">
                <a:solidFill>
                  <a:srgbClr val="D9E8F7"/>
                </a:solidFill>
              </a:rPr>
              <a:t>Generación de consultas MySQL desde preguntas en español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091D-7F40-4ABA-8F6C-B896DF7C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D9E8F7"/>
                </a:solidFill>
              </a:defRPr>
            </a:defPPr>
            <a:lvl1pPr>
              <a:defRPr sz="1200" b="0" i="0">
                <a:solidFill>
                  <a:srgbClr val="D9E8F7"/>
                </a:solidFill>
              </a:defRPr>
            </a:lvl1pPr>
            <a:lvl2pPr>
              <a:defRPr sz="1200" b="0" i="0">
                <a:solidFill>
                  <a:srgbClr val="D9E8F7"/>
                </a:solidFill>
              </a:defRPr>
            </a:lvl2pPr>
            <a:lvl3pPr>
              <a:defRPr sz="1200" b="0" i="0">
                <a:solidFill>
                  <a:srgbClr val="D9E8F7"/>
                </a:solidFill>
              </a:defRPr>
            </a:lvl3pPr>
            <a:lvl4pPr>
              <a:defRPr sz="1200" b="0" i="0">
                <a:solidFill>
                  <a:srgbClr val="D9E8F7"/>
                </a:solidFill>
              </a:defRPr>
            </a:lvl4pPr>
            <a:lvl5pPr>
              <a:defRPr sz="1200" b="0" i="0">
                <a:solidFill>
                  <a:srgbClr val="D9E8F7"/>
                </a:solidFill>
              </a:defRPr>
            </a:lvl5pPr>
            <a:lvl6pPr>
              <a:defRPr sz="1200" b="0" i="0">
                <a:solidFill>
                  <a:srgbClr val="D9E8F7"/>
                </a:solidFill>
              </a:defRPr>
            </a:lvl6pPr>
            <a:lvl7pPr>
              <a:defRPr sz="1200" b="0" i="0">
                <a:solidFill>
                  <a:srgbClr val="D9E8F7"/>
                </a:solidFill>
              </a:defRPr>
            </a:lvl7pPr>
            <a:lvl8pPr>
              <a:defRPr sz="1200" b="0" i="0">
                <a:solidFill>
                  <a:srgbClr val="D9E8F7"/>
                </a:solidFill>
              </a:defRPr>
            </a:lvl8pPr>
            <a:lvl9pPr>
              <a:defRPr sz="1200" b="0" i="0">
                <a:solidFill>
                  <a:srgbClr val="D9E8F7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D9E8F7"/>
                </a:solidFill>
              </a:defRPr>
            </a:pPr>
            <a:r>
              <a:rPr sz="1200" b="0" i="0">
                <a:solidFill>
                  <a:srgbClr val="D9E8F7"/>
                </a:solidFill>
              </a:rPr>
              <a:t>Hansel López · Carnet 19026</a:t>
            </a:r>
          </a:p>
          <a:p xmlns:a="http://schemas.openxmlformats.org/drawingml/2006/main">
            <a:pPr>
              <a:defRPr sz="1200" b="0" i="0">
                <a:solidFill>
                  <a:srgbClr val="D9E8F7"/>
                </a:solidFill>
              </a:defRPr>
            </a:pPr>
            <a:r>
              <a:rPr sz="1200" b="0" i="0">
                <a:solidFill>
                  <a:srgbClr val="D9E8F7"/>
                </a:solidFill>
              </a:rPr>
              <a:t>Universidad del Valle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124E4-F07B-496C-A3FA-F056C10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0B1F3A"/>
                </a:solidFill>
              </a:defRPr>
            </a:defPPr>
            <a:lvl1pPr>
              <a:defRPr sz="1200" b="1" i="0">
                <a:solidFill>
                  <a:srgbClr val="0B1F3A"/>
                </a:solidFill>
              </a:defRPr>
            </a:lvl1pPr>
            <a:lvl2pPr>
              <a:defRPr sz="1200" b="1" i="0">
                <a:solidFill>
                  <a:srgbClr val="0B1F3A"/>
                </a:solidFill>
              </a:defRPr>
            </a:lvl2pPr>
            <a:lvl3pPr>
              <a:defRPr sz="1200" b="1" i="0">
                <a:solidFill>
                  <a:srgbClr val="0B1F3A"/>
                </a:solidFill>
              </a:defRPr>
            </a:lvl3pPr>
            <a:lvl4pPr>
              <a:defRPr sz="1200" b="1" i="0">
                <a:solidFill>
                  <a:srgbClr val="0B1F3A"/>
                </a:solidFill>
              </a:defRPr>
            </a:lvl4pPr>
            <a:lvl5pPr>
              <a:defRPr sz="1200" b="1" i="0">
                <a:solidFill>
                  <a:srgbClr val="0B1F3A"/>
                </a:solidFill>
              </a:defRPr>
            </a:lvl5pPr>
            <a:lvl6pPr>
              <a:defRPr sz="1200" b="1" i="0">
                <a:solidFill>
                  <a:srgbClr val="0B1F3A"/>
                </a:solidFill>
              </a:defRPr>
            </a:lvl6pPr>
            <a:lvl7pPr>
              <a:defRPr sz="1200" b="1" i="0">
                <a:solidFill>
                  <a:srgbClr val="0B1F3A"/>
                </a:solidFill>
              </a:defRPr>
            </a:lvl7pPr>
            <a:lvl8pPr>
              <a:defRPr sz="1200" b="1" i="0">
                <a:solidFill>
                  <a:srgbClr val="0B1F3A"/>
                </a:solidFill>
              </a:defRPr>
            </a:lvl8pPr>
            <a:lvl9pPr>
              <a:defRPr sz="120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0B1F3A"/>
                </a:solidFill>
              </a:defRPr>
            </a:pPr>
            <a:r>
              <a:rPr sz="1200" b="1" i="0">
                <a:solidFill>
                  <a:srgbClr val="0B1F3A"/>
                </a:solidFill>
              </a:rPr>
              <a:t>EX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C0FC5-0D87-499C-896F-4BE30E9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350" b="1" i="0">
                <a:solidFill>
                  <a:srgbClr val="0B1F3A"/>
                </a:solidFill>
              </a:defRPr>
            </a:defPPr>
            <a:lvl1pPr>
              <a:defRPr sz="4350" b="1" i="0">
                <a:solidFill>
                  <a:srgbClr val="0B1F3A"/>
                </a:solidFill>
              </a:defRPr>
            </a:lvl1pPr>
            <a:lvl2pPr>
              <a:defRPr sz="4350" b="1" i="0">
                <a:solidFill>
                  <a:srgbClr val="0B1F3A"/>
                </a:solidFill>
              </a:defRPr>
            </a:lvl2pPr>
            <a:lvl3pPr>
              <a:defRPr sz="4350" b="1" i="0">
                <a:solidFill>
                  <a:srgbClr val="0B1F3A"/>
                </a:solidFill>
              </a:defRPr>
            </a:lvl3pPr>
            <a:lvl4pPr>
              <a:defRPr sz="4350" b="1" i="0">
                <a:solidFill>
                  <a:srgbClr val="0B1F3A"/>
                </a:solidFill>
              </a:defRPr>
            </a:lvl4pPr>
            <a:lvl5pPr>
              <a:defRPr sz="4350" b="1" i="0">
                <a:solidFill>
                  <a:srgbClr val="0B1F3A"/>
                </a:solidFill>
              </a:defRPr>
            </a:lvl5pPr>
            <a:lvl6pPr>
              <a:defRPr sz="4350" b="1" i="0">
                <a:solidFill>
                  <a:srgbClr val="0B1F3A"/>
                </a:solidFill>
              </a:defRPr>
            </a:lvl6pPr>
            <a:lvl7pPr>
              <a:defRPr sz="4350" b="1" i="0">
                <a:solidFill>
                  <a:srgbClr val="0B1F3A"/>
                </a:solidFill>
              </a:defRPr>
            </a:lvl7pPr>
            <a:lvl8pPr>
              <a:defRPr sz="4350" b="1" i="0">
                <a:solidFill>
                  <a:srgbClr val="0B1F3A"/>
                </a:solidFill>
              </a:defRPr>
            </a:lvl8pPr>
            <a:lvl9pPr>
              <a:defRPr sz="43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4350" b="1" i="0">
                <a:solidFill>
                  <a:srgbClr val="0B1F3A"/>
                </a:solidFill>
              </a:defRPr>
            </a:pPr>
            <a:r>
              <a:rPr sz="4350" b="1" i="0">
                <a:solidFill>
                  <a:srgbClr val="0B1F3A"/>
                </a:solidFill>
              </a:rPr>
              <a:t>0.7222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963F0-1AC0-4F14-BA89-81BD1D45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05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 i="0">
                <a:solidFill>
                  <a:srgbClr val="0B1F3A"/>
                </a:solidFill>
              </a:defRPr>
            </a:defPPr>
            <a:lvl1pPr>
              <a:defRPr sz="1350" b="1" i="0">
                <a:solidFill>
                  <a:srgbClr val="0B1F3A"/>
                </a:solidFill>
              </a:defRPr>
            </a:lvl1pPr>
            <a:lvl2pPr>
              <a:defRPr sz="1350" b="1" i="0">
                <a:solidFill>
                  <a:srgbClr val="0B1F3A"/>
                </a:solidFill>
              </a:defRPr>
            </a:lvl2pPr>
            <a:lvl3pPr>
              <a:defRPr sz="1350" b="1" i="0">
                <a:solidFill>
                  <a:srgbClr val="0B1F3A"/>
                </a:solidFill>
              </a:defRPr>
            </a:lvl3pPr>
            <a:lvl4pPr>
              <a:defRPr sz="1350" b="1" i="0">
                <a:solidFill>
                  <a:srgbClr val="0B1F3A"/>
                </a:solidFill>
              </a:defRPr>
            </a:lvl4pPr>
            <a:lvl5pPr>
              <a:defRPr sz="1350" b="1" i="0">
                <a:solidFill>
                  <a:srgbClr val="0B1F3A"/>
                </a:solidFill>
              </a:defRPr>
            </a:lvl5pPr>
            <a:lvl6pPr>
              <a:defRPr sz="1350" b="1" i="0">
                <a:solidFill>
                  <a:srgbClr val="0B1F3A"/>
                </a:solidFill>
              </a:defRPr>
            </a:lvl6pPr>
            <a:lvl7pPr>
              <a:defRPr sz="1350" b="1" i="0">
                <a:solidFill>
                  <a:srgbClr val="0B1F3A"/>
                </a:solidFill>
              </a:defRPr>
            </a:lvl7pPr>
            <a:lvl8pPr>
              <a:defRPr sz="1350" b="1" i="0">
                <a:solidFill>
                  <a:srgbClr val="0B1F3A"/>
                </a:solidFill>
              </a:defRPr>
            </a:lvl8pPr>
            <a:lvl9pPr>
              <a:defRPr sz="13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0B1F3A"/>
                </a:solidFill>
              </a:defRPr>
            </a:pPr>
            <a:r>
              <a:rPr sz="1350" b="1" i="0">
                <a:solidFill>
                  <a:srgbClr val="0B1F3A"/>
                </a:solidFill>
              </a:rPr>
              <a:t>+0.5417 frente al baseline</a:t>
            </a:r>
          </a:p>
        </p:txBody>
      </p:sp>
    </p:spTree>
    <p:extLst>
      <p:ext uri="{BB962C8B-B14F-4D97-AF65-F5344CB8AC3E}">
        <p14:creationId xmlns:p14="http://schemas.microsoft.com/office/powerpoint/2010/main" val="1698254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8E7C3-14DB-4B68-8100-A1A760E1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1677C8"/>
                </a:solidFill>
              </a:defRPr>
            </a:defPPr>
            <a:lvl1pPr>
              <a:defRPr sz="900" b="1" i="0">
                <a:solidFill>
                  <a:srgbClr val="1677C8"/>
                </a:solidFill>
              </a:defRPr>
            </a:lvl1pPr>
            <a:lvl2pPr>
              <a:defRPr sz="900" b="1" i="0">
                <a:solidFill>
                  <a:srgbClr val="1677C8"/>
                </a:solidFill>
              </a:defRPr>
            </a:lvl2pPr>
            <a:lvl3pPr>
              <a:defRPr sz="900" b="1" i="0">
                <a:solidFill>
                  <a:srgbClr val="1677C8"/>
                </a:solidFill>
              </a:defRPr>
            </a:lvl3pPr>
            <a:lvl4pPr>
              <a:defRPr sz="900" b="1" i="0">
                <a:solidFill>
                  <a:srgbClr val="1677C8"/>
                </a:solidFill>
              </a:defRPr>
            </a:lvl4pPr>
            <a:lvl5pPr>
              <a:defRPr sz="900" b="1" i="0">
                <a:solidFill>
                  <a:srgbClr val="1677C8"/>
                </a:solidFill>
              </a:defRPr>
            </a:lvl5pPr>
            <a:lvl6pPr>
              <a:defRPr sz="900" b="1" i="0">
                <a:solidFill>
                  <a:srgbClr val="1677C8"/>
                </a:solidFill>
              </a:defRPr>
            </a:lvl6pPr>
            <a:lvl7pPr>
              <a:defRPr sz="900" b="1" i="0">
                <a:solidFill>
                  <a:srgbClr val="1677C8"/>
                </a:solidFill>
              </a:defRPr>
            </a:lvl7pPr>
            <a:lvl8pPr>
              <a:defRPr sz="900" b="1" i="0">
                <a:solidFill>
                  <a:srgbClr val="1677C8"/>
                </a:solidFill>
              </a:defRPr>
            </a:lvl8pPr>
            <a:lvl9pPr>
              <a:defRPr sz="9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677C8"/>
                </a:solidFill>
              </a:defRPr>
            </a:pPr>
            <a:r>
              <a:rPr sz="900" b="1" i="0">
                <a:solidFill>
                  <a:srgbClr val="1677C8"/>
                </a:solidFill>
              </a:rPr>
              <a:t>TEXT-TO-SQL CON LORA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64D41-38FA-4166-973F-88CDB182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 i="0">
                <a:solidFill>
                  <a:srgbClr val="0B1F3A"/>
                </a:solidFill>
              </a:defRPr>
            </a:defPPr>
            <a:lvl1pPr>
              <a:defRPr sz="2550" b="1" i="0">
                <a:solidFill>
                  <a:srgbClr val="0B1F3A"/>
                </a:solidFill>
              </a:defRPr>
            </a:lvl1pPr>
            <a:lvl2pPr>
              <a:defRPr sz="2550" b="1" i="0">
                <a:solidFill>
                  <a:srgbClr val="0B1F3A"/>
                </a:solidFill>
              </a:defRPr>
            </a:lvl2pPr>
            <a:lvl3pPr>
              <a:defRPr sz="2550" b="1" i="0">
                <a:solidFill>
                  <a:srgbClr val="0B1F3A"/>
                </a:solidFill>
              </a:defRPr>
            </a:lvl3pPr>
            <a:lvl4pPr>
              <a:defRPr sz="2550" b="1" i="0">
                <a:solidFill>
                  <a:srgbClr val="0B1F3A"/>
                </a:solidFill>
              </a:defRPr>
            </a:lvl4pPr>
            <a:lvl5pPr>
              <a:defRPr sz="2550" b="1" i="0">
                <a:solidFill>
                  <a:srgbClr val="0B1F3A"/>
                </a:solidFill>
              </a:defRPr>
            </a:lvl5pPr>
            <a:lvl6pPr>
              <a:defRPr sz="2550" b="1" i="0">
                <a:solidFill>
                  <a:srgbClr val="0B1F3A"/>
                </a:solidFill>
              </a:defRPr>
            </a:lvl6pPr>
            <a:lvl7pPr>
              <a:defRPr sz="2550" b="1" i="0">
                <a:solidFill>
                  <a:srgbClr val="0B1F3A"/>
                </a:solidFill>
              </a:defRPr>
            </a:lvl7pPr>
            <a:lvl8pPr>
              <a:defRPr sz="2550" b="1" i="0">
                <a:solidFill>
                  <a:srgbClr val="0B1F3A"/>
                </a:solidFill>
              </a:defRPr>
            </a:lvl8pPr>
            <a:lvl9pPr>
              <a:defRPr sz="25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550" b="1" i="0">
                <a:solidFill>
                  <a:srgbClr val="0B1F3A"/>
                </a:solidFill>
              </a:defRPr>
            </a:pPr>
            <a:r>
              <a:rPr sz="2550" b="1" i="0">
                <a:solidFill>
                  <a:srgbClr val="0B1F3A"/>
                </a:solidFill>
              </a:rPr>
              <a:t>Objetivo y enfoque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DD1CE-BFE5-48DD-9463-CF613EC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3E57F-A51E-4EAA-84C3-B9D02761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667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9BB30-C6C8-492F-AF58-E1203D7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667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EAF7C-6789-495E-8B89-A9FE6D0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67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C9B35-8C0A-489A-AF60-75B2CB16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0B1F3A"/>
                </a:solidFill>
              </a:defRPr>
            </a:defPPr>
            <a:lvl1pPr>
              <a:defRPr sz="1500" b="1" i="0">
                <a:solidFill>
                  <a:srgbClr val="0B1F3A"/>
                </a:solidFill>
              </a:defRPr>
            </a:lvl1pPr>
            <a:lvl2pPr>
              <a:defRPr sz="1500" b="1" i="0">
                <a:solidFill>
                  <a:srgbClr val="0B1F3A"/>
                </a:solidFill>
              </a:defRPr>
            </a:lvl2pPr>
            <a:lvl3pPr>
              <a:defRPr sz="1500" b="1" i="0">
                <a:solidFill>
                  <a:srgbClr val="0B1F3A"/>
                </a:solidFill>
              </a:defRPr>
            </a:lvl3pPr>
            <a:lvl4pPr>
              <a:defRPr sz="1500" b="1" i="0">
                <a:solidFill>
                  <a:srgbClr val="0B1F3A"/>
                </a:solidFill>
              </a:defRPr>
            </a:lvl4pPr>
            <a:lvl5pPr>
              <a:defRPr sz="1500" b="1" i="0">
                <a:solidFill>
                  <a:srgbClr val="0B1F3A"/>
                </a:solidFill>
              </a:defRPr>
            </a:lvl5pPr>
            <a:lvl6pPr>
              <a:defRPr sz="1500" b="1" i="0">
                <a:solidFill>
                  <a:srgbClr val="0B1F3A"/>
                </a:solidFill>
              </a:defRPr>
            </a:lvl6pPr>
            <a:lvl7pPr>
              <a:defRPr sz="1500" b="1" i="0">
                <a:solidFill>
                  <a:srgbClr val="0B1F3A"/>
                </a:solidFill>
              </a:defRPr>
            </a:lvl7pPr>
            <a:lvl8pPr>
              <a:defRPr sz="1500" b="1" i="0">
                <a:solidFill>
                  <a:srgbClr val="0B1F3A"/>
                </a:solidFill>
              </a:defRPr>
            </a:lvl8pPr>
            <a:lvl9pPr>
              <a:defRPr sz="150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</a:defRPr>
            </a:pPr>
            <a:r>
              <a:rPr sz="1500" b="1" i="0">
                <a:solidFill>
                  <a:srgbClr val="0B1F3A"/>
                </a:solidFill>
              </a:rPr>
              <a:t>Pregunta en español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92C61-71F3-4DF4-85C7-4BCA40D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5C6B80"/>
                </a:solidFill>
              </a:defRPr>
            </a:defPPr>
            <a:lvl1pPr>
              <a:defRPr sz="1350" b="0" i="0">
                <a:solidFill>
                  <a:srgbClr val="5C6B80"/>
                </a:solidFill>
              </a:defRPr>
            </a:lvl1pPr>
            <a:lvl2pPr>
              <a:defRPr sz="1350" b="0" i="0">
                <a:solidFill>
                  <a:srgbClr val="5C6B80"/>
                </a:solidFill>
              </a:defRPr>
            </a:lvl2pPr>
            <a:lvl3pPr>
              <a:defRPr sz="1350" b="0" i="0">
                <a:solidFill>
                  <a:srgbClr val="5C6B80"/>
                </a:solidFill>
              </a:defRPr>
            </a:lvl3pPr>
            <a:lvl4pPr>
              <a:defRPr sz="1350" b="0" i="0">
                <a:solidFill>
                  <a:srgbClr val="5C6B80"/>
                </a:solidFill>
              </a:defRPr>
            </a:lvl4pPr>
            <a:lvl5pPr>
              <a:defRPr sz="1350" b="0" i="0">
                <a:solidFill>
                  <a:srgbClr val="5C6B80"/>
                </a:solidFill>
              </a:defRPr>
            </a:lvl5pPr>
            <a:lvl6pPr>
              <a:defRPr sz="1350" b="0" i="0">
                <a:solidFill>
                  <a:srgbClr val="5C6B80"/>
                </a:solidFill>
              </a:defRPr>
            </a:lvl6pPr>
            <a:lvl7pPr>
              <a:defRPr sz="1350" b="0" i="0">
                <a:solidFill>
                  <a:srgbClr val="5C6B80"/>
                </a:solidFill>
              </a:defRPr>
            </a:lvl7pPr>
            <a:lvl8pPr>
              <a:defRPr sz="1350" b="0" i="0">
                <a:solidFill>
                  <a:srgbClr val="5C6B80"/>
                </a:solidFill>
              </a:defRPr>
            </a:lvl8pPr>
            <a:lvl9pPr>
              <a:defRPr sz="13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¿Cuántos clientes hay registrados?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BE89-D30A-4C32-B250-4184970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 i="0">
                <a:solidFill>
                  <a:srgbClr val="0B1F3A"/>
                </a:solidFill>
              </a:defRPr>
            </a:defPPr>
            <a:lvl1pPr>
              <a:defRPr sz="1575" b="1" i="0">
                <a:solidFill>
                  <a:srgbClr val="0B1F3A"/>
                </a:solidFill>
              </a:defRPr>
            </a:lvl1pPr>
            <a:lvl2pPr>
              <a:defRPr sz="1575" b="1" i="0">
                <a:solidFill>
                  <a:srgbClr val="0B1F3A"/>
                </a:solidFill>
              </a:defRPr>
            </a:lvl2pPr>
            <a:lvl3pPr>
              <a:defRPr sz="1575" b="1" i="0">
                <a:solidFill>
                  <a:srgbClr val="0B1F3A"/>
                </a:solidFill>
              </a:defRPr>
            </a:lvl3pPr>
            <a:lvl4pPr>
              <a:defRPr sz="1575" b="1" i="0">
                <a:solidFill>
                  <a:srgbClr val="0B1F3A"/>
                </a:solidFill>
              </a:defRPr>
            </a:lvl4pPr>
            <a:lvl5pPr>
              <a:defRPr sz="1575" b="1" i="0">
                <a:solidFill>
                  <a:srgbClr val="0B1F3A"/>
                </a:solidFill>
              </a:defRPr>
            </a:lvl5pPr>
            <a:lvl6pPr>
              <a:defRPr sz="1575" b="1" i="0">
                <a:solidFill>
                  <a:srgbClr val="0B1F3A"/>
                </a:solidFill>
              </a:defRPr>
            </a:lvl6pPr>
            <a:lvl7pPr>
              <a:defRPr sz="1575" b="1" i="0">
                <a:solidFill>
                  <a:srgbClr val="0B1F3A"/>
                </a:solidFill>
              </a:defRPr>
            </a:lvl7pPr>
            <a:lvl8pPr>
              <a:defRPr sz="1575" b="1" i="0">
                <a:solidFill>
                  <a:srgbClr val="0B1F3A"/>
                </a:solidFill>
              </a:defRPr>
            </a:lvl8pPr>
            <a:lvl9pPr>
              <a:defRPr sz="1575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Modelo Qwen2.5-Coder 1.5B</a:t>
            </a:r>
          </a:p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+ adaptación LoRA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90A93-AEA0-4111-B6C7-99023B0E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0B1F3A"/>
                </a:solidFill>
              </a:defRPr>
            </a:defPPr>
            <a:lvl1pPr>
              <a:defRPr sz="1500" b="1" i="0">
                <a:solidFill>
                  <a:srgbClr val="0B1F3A"/>
                </a:solidFill>
              </a:defRPr>
            </a:lvl1pPr>
            <a:lvl2pPr>
              <a:defRPr sz="1500" b="1" i="0">
                <a:solidFill>
                  <a:srgbClr val="0B1F3A"/>
                </a:solidFill>
              </a:defRPr>
            </a:lvl2pPr>
            <a:lvl3pPr>
              <a:defRPr sz="1500" b="1" i="0">
                <a:solidFill>
                  <a:srgbClr val="0B1F3A"/>
                </a:solidFill>
              </a:defRPr>
            </a:lvl3pPr>
            <a:lvl4pPr>
              <a:defRPr sz="1500" b="1" i="0">
                <a:solidFill>
                  <a:srgbClr val="0B1F3A"/>
                </a:solidFill>
              </a:defRPr>
            </a:lvl4pPr>
            <a:lvl5pPr>
              <a:defRPr sz="1500" b="1" i="0">
                <a:solidFill>
                  <a:srgbClr val="0B1F3A"/>
                </a:solidFill>
              </a:defRPr>
            </a:lvl5pPr>
            <a:lvl6pPr>
              <a:defRPr sz="1500" b="1" i="0">
                <a:solidFill>
                  <a:srgbClr val="0B1F3A"/>
                </a:solidFill>
              </a:defRPr>
            </a:lvl6pPr>
            <a:lvl7pPr>
              <a:defRPr sz="1500" b="1" i="0">
                <a:solidFill>
                  <a:srgbClr val="0B1F3A"/>
                </a:solidFill>
              </a:defRPr>
            </a:lvl7pPr>
            <a:lvl8pPr>
              <a:defRPr sz="1500" b="1" i="0">
                <a:solidFill>
                  <a:srgbClr val="0B1F3A"/>
                </a:solidFill>
              </a:defRPr>
            </a:lvl8pPr>
            <a:lvl9pPr>
              <a:defRPr sz="150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</a:defRPr>
            </a:pPr>
            <a:r>
              <a:rPr sz="1500" b="1" i="0">
                <a:solidFill>
                  <a:srgbClr val="0B1F3A"/>
                </a:solidFill>
              </a:rPr>
              <a:t>Consulta 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553C5-A3E7-4256-9150-4215EBE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5C6B80"/>
                </a:solidFill>
              </a:defRPr>
            </a:defPPr>
            <a:lvl1pPr>
              <a:defRPr sz="1350" b="0" i="0">
                <a:solidFill>
                  <a:srgbClr val="5C6B80"/>
                </a:solidFill>
              </a:defRPr>
            </a:lvl1pPr>
            <a:lvl2pPr>
              <a:defRPr sz="1350" b="0" i="0">
                <a:solidFill>
                  <a:srgbClr val="5C6B80"/>
                </a:solidFill>
              </a:defRPr>
            </a:lvl2pPr>
            <a:lvl3pPr>
              <a:defRPr sz="1350" b="0" i="0">
                <a:solidFill>
                  <a:srgbClr val="5C6B80"/>
                </a:solidFill>
              </a:defRPr>
            </a:lvl3pPr>
            <a:lvl4pPr>
              <a:defRPr sz="1350" b="0" i="0">
                <a:solidFill>
                  <a:srgbClr val="5C6B80"/>
                </a:solidFill>
              </a:defRPr>
            </a:lvl4pPr>
            <a:lvl5pPr>
              <a:defRPr sz="1350" b="0" i="0">
                <a:solidFill>
                  <a:srgbClr val="5C6B80"/>
                </a:solidFill>
              </a:defRPr>
            </a:lvl5pPr>
            <a:lvl6pPr>
              <a:defRPr sz="1350" b="0" i="0">
                <a:solidFill>
                  <a:srgbClr val="5C6B80"/>
                </a:solidFill>
              </a:defRPr>
            </a:lvl6pPr>
            <a:lvl7pPr>
              <a:defRPr sz="1350" b="0" i="0">
                <a:solidFill>
                  <a:srgbClr val="5C6B80"/>
                </a:solidFill>
              </a:defRPr>
            </a:lvl7pPr>
            <a:lvl8pPr>
              <a:defRPr sz="1350" b="0" i="0">
                <a:solidFill>
                  <a:srgbClr val="5C6B80"/>
                </a:solidFill>
              </a:defRPr>
            </a:lvl8pPr>
            <a:lvl9pPr>
              <a:defRPr sz="13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SELECT COUNT(*)</a:t>
            </a:r>
          </a:p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FROM clientes;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0AACD-83EF-41EB-BE25-FD59C976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2412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DCAA1-D7DD-4B5C-82D5-8007118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A64A7-78CE-4780-BE84-767574DC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 i="0">
                <a:solidFill>
                  <a:srgbClr val="12233D"/>
                </a:solidFill>
              </a:defRPr>
            </a:defPPr>
            <a:lvl1pPr>
              <a:defRPr sz="1800" b="0" i="0">
                <a:solidFill>
                  <a:srgbClr val="12233D"/>
                </a:solidFill>
              </a:defRPr>
            </a:lvl1pPr>
            <a:lvl2pPr>
              <a:defRPr sz="1800" b="0" i="0">
                <a:solidFill>
                  <a:srgbClr val="12233D"/>
                </a:solidFill>
              </a:defRPr>
            </a:lvl2pPr>
            <a:lvl3pPr>
              <a:defRPr sz="1800" b="0" i="0">
                <a:solidFill>
                  <a:srgbClr val="12233D"/>
                </a:solidFill>
              </a:defRPr>
            </a:lvl3pPr>
            <a:lvl4pPr>
              <a:defRPr sz="1800" b="0" i="0">
                <a:solidFill>
                  <a:srgbClr val="12233D"/>
                </a:solidFill>
              </a:defRPr>
            </a:lvl4pPr>
            <a:lvl5pPr>
              <a:defRPr sz="1800" b="0" i="0">
                <a:solidFill>
                  <a:srgbClr val="12233D"/>
                </a:solidFill>
              </a:defRPr>
            </a:lvl5pPr>
            <a:lvl6pPr>
              <a:defRPr sz="1800" b="0" i="0">
                <a:solidFill>
                  <a:srgbClr val="12233D"/>
                </a:solidFill>
              </a:defRPr>
            </a:lvl6pPr>
            <a:lvl7pPr>
              <a:defRPr sz="1800" b="0" i="0">
                <a:solidFill>
                  <a:srgbClr val="12233D"/>
                </a:solidFill>
              </a:defRPr>
            </a:lvl7pPr>
            <a:lvl8pPr>
              <a:defRPr sz="1800" b="0" i="0">
                <a:solidFill>
                  <a:srgbClr val="12233D"/>
                </a:solidFill>
              </a:defRPr>
            </a:lvl8pPr>
            <a:lvl9pPr>
              <a:defRPr sz="1800" b="0" i="0">
                <a:solidFill>
                  <a:srgbClr val="12233D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12233D"/>
                </a:solidFill>
              </a:defRPr>
            </a:pPr>
            <a:r>
              <a:rPr sz="1800" b="0" i="0">
                <a:solidFill>
                  <a:srgbClr val="12233D"/>
                </a:solidFill>
              </a:rPr>
              <a:t>El sistema recibe la pregunta y el esquema de la base de datos para producir una consulta ejecutable.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B352F-3688-404A-A95E-809917F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 i="0">
                <a:solidFill>
                  <a:srgbClr val="5C6B80"/>
                </a:solidFill>
              </a:defRPr>
            </a:defPPr>
            <a:lvl1pPr>
              <a:defRPr sz="750" b="0" i="0">
                <a:solidFill>
                  <a:srgbClr val="5C6B80"/>
                </a:solidFill>
              </a:defRPr>
            </a:lvl1pPr>
            <a:lvl2pPr>
              <a:defRPr sz="750" b="0" i="0">
                <a:solidFill>
                  <a:srgbClr val="5C6B80"/>
                </a:solidFill>
              </a:defRPr>
            </a:lvl2pPr>
            <a:lvl3pPr>
              <a:defRPr sz="750" b="0" i="0">
                <a:solidFill>
                  <a:srgbClr val="5C6B80"/>
                </a:solidFill>
              </a:defRPr>
            </a:lvl3pPr>
            <a:lvl4pPr>
              <a:defRPr sz="750" b="0" i="0">
                <a:solidFill>
                  <a:srgbClr val="5C6B80"/>
                </a:solidFill>
              </a:defRPr>
            </a:lvl4pPr>
            <a:lvl5pPr>
              <a:defRPr sz="750" b="0" i="0">
                <a:solidFill>
                  <a:srgbClr val="5C6B80"/>
                </a:solidFill>
              </a:defRPr>
            </a:lvl5pPr>
            <a:lvl6pPr>
              <a:defRPr sz="750" b="0" i="0">
                <a:solidFill>
                  <a:srgbClr val="5C6B80"/>
                </a:solidFill>
              </a:defRPr>
            </a:lvl6pPr>
            <a:lvl7pPr>
              <a:defRPr sz="750" b="0" i="0">
                <a:solidFill>
                  <a:srgbClr val="5C6B80"/>
                </a:solidFill>
              </a:defRPr>
            </a:lvl7pPr>
            <a:lvl8pPr>
              <a:defRPr sz="750" b="0" i="0">
                <a:solidFill>
                  <a:srgbClr val="5C6B80"/>
                </a:solidFill>
              </a:defRPr>
            </a:lvl8pPr>
            <a:lvl9pPr>
              <a:defRPr sz="7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C6B80"/>
                </a:solidFill>
              </a:defRPr>
            </a:pPr>
            <a:r>
              <a:rPr sz="750" b="0" i="0">
                <a:solidFill>
                  <a:srgbClr val="5C6B80"/>
                </a:solidFill>
              </a:rPr>
              <a:t>Hansel López · Deep Learning 2026</a:t>
            </a:r>
          </a:p>
        </p:txBody>
      </p:sp>
    </p:spTree>
    <p:extLst>
      <p:ext uri="{BB962C8B-B14F-4D97-AF65-F5344CB8AC3E}">
        <p14:creationId xmlns:p14="http://schemas.microsoft.com/office/powerpoint/2010/main" val="1619419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73BC1-A2EB-407A-8F85-27E43FCB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1677C8"/>
                </a:solidFill>
              </a:defRPr>
            </a:defPPr>
            <a:lvl1pPr>
              <a:defRPr sz="900" b="1" i="0">
                <a:solidFill>
                  <a:srgbClr val="1677C8"/>
                </a:solidFill>
              </a:defRPr>
            </a:lvl1pPr>
            <a:lvl2pPr>
              <a:defRPr sz="900" b="1" i="0">
                <a:solidFill>
                  <a:srgbClr val="1677C8"/>
                </a:solidFill>
              </a:defRPr>
            </a:lvl2pPr>
            <a:lvl3pPr>
              <a:defRPr sz="900" b="1" i="0">
                <a:solidFill>
                  <a:srgbClr val="1677C8"/>
                </a:solidFill>
              </a:defRPr>
            </a:lvl3pPr>
            <a:lvl4pPr>
              <a:defRPr sz="900" b="1" i="0">
                <a:solidFill>
                  <a:srgbClr val="1677C8"/>
                </a:solidFill>
              </a:defRPr>
            </a:lvl4pPr>
            <a:lvl5pPr>
              <a:defRPr sz="900" b="1" i="0">
                <a:solidFill>
                  <a:srgbClr val="1677C8"/>
                </a:solidFill>
              </a:defRPr>
            </a:lvl5pPr>
            <a:lvl6pPr>
              <a:defRPr sz="900" b="1" i="0">
                <a:solidFill>
                  <a:srgbClr val="1677C8"/>
                </a:solidFill>
              </a:defRPr>
            </a:lvl6pPr>
            <a:lvl7pPr>
              <a:defRPr sz="900" b="1" i="0">
                <a:solidFill>
                  <a:srgbClr val="1677C8"/>
                </a:solidFill>
              </a:defRPr>
            </a:lvl7pPr>
            <a:lvl8pPr>
              <a:defRPr sz="900" b="1" i="0">
                <a:solidFill>
                  <a:srgbClr val="1677C8"/>
                </a:solidFill>
              </a:defRPr>
            </a:lvl8pPr>
            <a:lvl9pPr>
              <a:defRPr sz="9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677C8"/>
                </a:solidFill>
              </a:defRPr>
            </a:pPr>
            <a:r>
              <a:rPr sz="900" b="1" i="0">
                <a:solidFill>
                  <a:srgbClr val="1677C8"/>
                </a:solidFill>
              </a:rPr>
              <a:t>TEXT-TO-SQL CON LORA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9A654-04AE-438B-B593-BDB3675F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 i="0">
                <a:solidFill>
                  <a:srgbClr val="0B1F3A"/>
                </a:solidFill>
              </a:defRPr>
            </a:defPPr>
            <a:lvl1pPr>
              <a:defRPr sz="2550" b="1" i="0">
                <a:solidFill>
                  <a:srgbClr val="0B1F3A"/>
                </a:solidFill>
              </a:defRPr>
            </a:lvl1pPr>
            <a:lvl2pPr>
              <a:defRPr sz="2550" b="1" i="0">
                <a:solidFill>
                  <a:srgbClr val="0B1F3A"/>
                </a:solidFill>
              </a:defRPr>
            </a:lvl2pPr>
            <a:lvl3pPr>
              <a:defRPr sz="2550" b="1" i="0">
                <a:solidFill>
                  <a:srgbClr val="0B1F3A"/>
                </a:solidFill>
              </a:defRPr>
            </a:lvl3pPr>
            <a:lvl4pPr>
              <a:defRPr sz="2550" b="1" i="0">
                <a:solidFill>
                  <a:srgbClr val="0B1F3A"/>
                </a:solidFill>
              </a:defRPr>
            </a:lvl4pPr>
            <a:lvl5pPr>
              <a:defRPr sz="2550" b="1" i="0">
                <a:solidFill>
                  <a:srgbClr val="0B1F3A"/>
                </a:solidFill>
              </a:defRPr>
            </a:lvl5pPr>
            <a:lvl6pPr>
              <a:defRPr sz="2550" b="1" i="0">
                <a:solidFill>
                  <a:srgbClr val="0B1F3A"/>
                </a:solidFill>
              </a:defRPr>
            </a:lvl6pPr>
            <a:lvl7pPr>
              <a:defRPr sz="2550" b="1" i="0">
                <a:solidFill>
                  <a:srgbClr val="0B1F3A"/>
                </a:solidFill>
              </a:defRPr>
            </a:lvl7pPr>
            <a:lvl8pPr>
              <a:defRPr sz="2550" b="1" i="0">
                <a:solidFill>
                  <a:srgbClr val="0B1F3A"/>
                </a:solidFill>
              </a:defRPr>
            </a:lvl8pPr>
            <a:lvl9pPr>
              <a:defRPr sz="25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550" b="1" i="0">
                <a:solidFill>
                  <a:srgbClr val="0B1F3A"/>
                </a:solidFill>
              </a:defRPr>
            </a:pPr>
            <a:r>
              <a:rPr sz="2550" b="1" i="0">
                <a:solidFill>
                  <a:srgbClr val="0B1F3A"/>
                </a:solidFill>
              </a:rPr>
              <a:t>Datos y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2986D-ADD7-4DCF-BD04-84F8253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D87D4-58C6-4F8C-BC8A-1EF3815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 i="0">
                <a:solidFill>
                  <a:srgbClr val="1677C8"/>
                </a:solidFill>
              </a:defRPr>
            </a:defPPr>
            <a:lvl1pPr>
              <a:defRPr sz="3150" b="1" i="0">
                <a:solidFill>
                  <a:srgbClr val="1677C8"/>
                </a:solidFill>
              </a:defRPr>
            </a:lvl1pPr>
            <a:lvl2pPr>
              <a:defRPr sz="3150" b="1" i="0">
                <a:solidFill>
                  <a:srgbClr val="1677C8"/>
                </a:solidFill>
              </a:defRPr>
            </a:lvl2pPr>
            <a:lvl3pPr>
              <a:defRPr sz="3150" b="1" i="0">
                <a:solidFill>
                  <a:srgbClr val="1677C8"/>
                </a:solidFill>
              </a:defRPr>
            </a:lvl3pPr>
            <a:lvl4pPr>
              <a:defRPr sz="3150" b="1" i="0">
                <a:solidFill>
                  <a:srgbClr val="1677C8"/>
                </a:solidFill>
              </a:defRPr>
            </a:lvl4pPr>
            <a:lvl5pPr>
              <a:defRPr sz="3150" b="1" i="0">
                <a:solidFill>
                  <a:srgbClr val="1677C8"/>
                </a:solidFill>
              </a:defRPr>
            </a:lvl5pPr>
            <a:lvl6pPr>
              <a:defRPr sz="3150" b="1" i="0">
                <a:solidFill>
                  <a:srgbClr val="1677C8"/>
                </a:solidFill>
              </a:defRPr>
            </a:lvl6pPr>
            <a:lvl7pPr>
              <a:defRPr sz="3150" b="1" i="0">
                <a:solidFill>
                  <a:srgbClr val="1677C8"/>
                </a:solidFill>
              </a:defRPr>
            </a:lvl7pPr>
            <a:lvl8pPr>
              <a:defRPr sz="3150" b="1" i="0">
                <a:solidFill>
                  <a:srgbClr val="1677C8"/>
                </a:solidFill>
              </a:defRPr>
            </a:lvl8pPr>
            <a:lvl9pPr>
              <a:defRPr sz="315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1677C8"/>
                </a:solidFill>
              </a:defRPr>
            </a:pPr>
            <a:r>
              <a:rPr sz="3150" b="1" i="0">
                <a:solidFill>
                  <a:srgbClr val="1677C8"/>
                </a:solidFill>
              </a:rPr>
              <a:t>2,415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227EA-C495-406F-A156-0FD14A97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 i="0">
                <a:solidFill>
                  <a:srgbClr val="5C6B80"/>
                </a:solidFill>
              </a:defRPr>
            </a:defPPr>
            <a:lvl1pPr>
              <a:defRPr sz="1275" b="0" i="0">
                <a:solidFill>
                  <a:srgbClr val="5C6B80"/>
                </a:solidFill>
              </a:defRPr>
            </a:lvl1pPr>
            <a:lvl2pPr>
              <a:defRPr sz="1275" b="0" i="0">
                <a:solidFill>
                  <a:srgbClr val="5C6B80"/>
                </a:solidFill>
              </a:defRPr>
            </a:lvl2pPr>
            <a:lvl3pPr>
              <a:defRPr sz="1275" b="0" i="0">
                <a:solidFill>
                  <a:srgbClr val="5C6B80"/>
                </a:solidFill>
              </a:defRPr>
            </a:lvl3pPr>
            <a:lvl4pPr>
              <a:defRPr sz="1275" b="0" i="0">
                <a:solidFill>
                  <a:srgbClr val="5C6B80"/>
                </a:solidFill>
              </a:defRPr>
            </a:lvl4pPr>
            <a:lvl5pPr>
              <a:defRPr sz="1275" b="0" i="0">
                <a:solidFill>
                  <a:srgbClr val="5C6B80"/>
                </a:solidFill>
              </a:defRPr>
            </a:lvl5pPr>
            <a:lvl6pPr>
              <a:defRPr sz="1275" b="0" i="0">
                <a:solidFill>
                  <a:srgbClr val="5C6B80"/>
                </a:solidFill>
              </a:defRPr>
            </a:lvl6pPr>
            <a:lvl7pPr>
              <a:defRPr sz="1275" b="0" i="0">
                <a:solidFill>
                  <a:srgbClr val="5C6B80"/>
                </a:solidFill>
              </a:defRPr>
            </a:lvl7pPr>
            <a:lvl8pPr>
              <a:defRPr sz="1275" b="0" i="0">
                <a:solidFill>
                  <a:srgbClr val="5C6B80"/>
                </a:solidFill>
              </a:defRPr>
            </a:lvl8pPr>
            <a:lvl9pPr>
              <a:defRPr sz="1275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5C6B80"/>
                </a:solidFill>
              </a:defRPr>
            </a:pPr>
            <a:r>
              <a:rPr sz="1275" b="0" i="0">
                <a:solidFill>
                  <a:srgbClr val="5C6B80"/>
                </a:solidFill>
              </a:rPr>
              <a:t>pares pregunta-SQL para entrenamiento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49F5A-6948-43A5-89A2-04EE5304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 i="0">
                <a:solidFill>
                  <a:srgbClr val="45D6A8"/>
                </a:solidFill>
              </a:defRPr>
            </a:defPPr>
            <a:lvl1pPr>
              <a:defRPr sz="3150" b="1" i="0">
                <a:solidFill>
                  <a:srgbClr val="45D6A8"/>
                </a:solidFill>
              </a:defRPr>
            </a:lvl1pPr>
            <a:lvl2pPr>
              <a:defRPr sz="3150" b="1" i="0">
                <a:solidFill>
                  <a:srgbClr val="45D6A8"/>
                </a:solidFill>
              </a:defRPr>
            </a:lvl2pPr>
            <a:lvl3pPr>
              <a:defRPr sz="3150" b="1" i="0">
                <a:solidFill>
                  <a:srgbClr val="45D6A8"/>
                </a:solidFill>
              </a:defRPr>
            </a:lvl3pPr>
            <a:lvl4pPr>
              <a:defRPr sz="3150" b="1" i="0">
                <a:solidFill>
                  <a:srgbClr val="45D6A8"/>
                </a:solidFill>
              </a:defRPr>
            </a:lvl4pPr>
            <a:lvl5pPr>
              <a:defRPr sz="3150" b="1" i="0">
                <a:solidFill>
                  <a:srgbClr val="45D6A8"/>
                </a:solidFill>
              </a:defRPr>
            </a:lvl5pPr>
            <a:lvl6pPr>
              <a:defRPr sz="3150" b="1" i="0">
                <a:solidFill>
                  <a:srgbClr val="45D6A8"/>
                </a:solidFill>
              </a:defRPr>
            </a:lvl6pPr>
            <a:lvl7pPr>
              <a:defRPr sz="3150" b="1" i="0">
                <a:solidFill>
                  <a:srgbClr val="45D6A8"/>
                </a:solidFill>
              </a:defRPr>
            </a:lvl7pPr>
            <a:lvl8pPr>
              <a:defRPr sz="3150" b="1" i="0">
                <a:solidFill>
                  <a:srgbClr val="45D6A8"/>
                </a:solidFill>
              </a:defRPr>
            </a:lvl8pPr>
            <a:lvl9pPr>
              <a:defRPr sz="3150" b="1" i="0">
                <a:solidFill>
                  <a:srgbClr val="45D6A8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45D6A8"/>
                </a:solidFill>
              </a:defRPr>
            </a:pPr>
            <a:r>
              <a:rPr sz="3150" b="1" i="0">
                <a:solidFill>
                  <a:srgbClr val="45D6A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04434-1797-4DB4-9A6D-CB51C63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 i="0">
                <a:solidFill>
                  <a:srgbClr val="5C6B80"/>
                </a:solidFill>
              </a:defRPr>
            </a:defPPr>
            <a:lvl1pPr>
              <a:defRPr sz="1275" b="0" i="0">
                <a:solidFill>
                  <a:srgbClr val="5C6B80"/>
                </a:solidFill>
              </a:defRPr>
            </a:lvl1pPr>
            <a:lvl2pPr>
              <a:defRPr sz="1275" b="0" i="0">
                <a:solidFill>
                  <a:srgbClr val="5C6B80"/>
                </a:solidFill>
              </a:defRPr>
            </a:lvl2pPr>
            <a:lvl3pPr>
              <a:defRPr sz="1275" b="0" i="0">
                <a:solidFill>
                  <a:srgbClr val="5C6B80"/>
                </a:solidFill>
              </a:defRPr>
            </a:lvl3pPr>
            <a:lvl4pPr>
              <a:defRPr sz="1275" b="0" i="0">
                <a:solidFill>
                  <a:srgbClr val="5C6B80"/>
                </a:solidFill>
              </a:defRPr>
            </a:lvl4pPr>
            <a:lvl5pPr>
              <a:defRPr sz="1275" b="0" i="0">
                <a:solidFill>
                  <a:srgbClr val="5C6B80"/>
                </a:solidFill>
              </a:defRPr>
            </a:lvl5pPr>
            <a:lvl6pPr>
              <a:defRPr sz="1275" b="0" i="0">
                <a:solidFill>
                  <a:srgbClr val="5C6B80"/>
                </a:solidFill>
              </a:defRPr>
            </a:lvl6pPr>
            <a:lvl7pPr>
              <a:defRPr sz="1275" b="0" i="0">
                <a:solidFill>
                  <a:srgbClr val="5C6B80"/>
                </a:solidFill>
              </a:defRPr>
            </a:lvl7pPr>
            <a:lvl8pPr>
              <a:defRPr sz="1275" b="0" i="0">
                <a:solidFill>
                  <a:srgbClr val="5C6B80"/>
                </a:solidFill>
              </a:defRPr>
            </a:lvl8pPr>
            <a:lvl9pPr>
              <a:defRPr sz="1275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5C6B80"/>
                </a:solidFill>
              </a:defRPr>
            </a:pPr>
            <a:r>
              <a:rPr sz="1275" b="0" i="0">
                <a:solidFill>
                  <a:srgbClr val="5C6B80"/>
                </a:solidFill>
              </a:rPr>
              <a:t>esquemas SQL</a:t>
            </a:r>
          </a:p>
          <a:p xmlns:a="http://schemas.openxmlformats.org/drawingml/2006/main">
            <a:pPr>
              <a:defRPr sz="1275" b="0" i="0">
                <a:solidFill>
                  <a:srgbClr val="5C6B80"/>
                </a:solidFill>
              </a:defRPr>
            </a:pPr>
            <a:r>
              <a:rPr sz="1275" b="0" i="0">
                <a:solidFill>
                  <a:srgbClr val="5C6B80"/>
                </a:solidFill>
              </a:rPr>
              <a:t>10 para entrenar y 2 para validar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AF499-F47C-4026-9F98-304FBFC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 i="0">
                <a:solidFill>
                  <a:srgbClr val="F6C453"/>
                </a:solidFill>
              </a:defRPr>
            </a:defPPr>
            <a:lvl1pPr>
              <a:defRPr sz="3150" b="1" i="0">
                <a:solidFill>
                  <a:srgbClr val="F6C453"/>
                </a:solidFill>
              </a:defRPr>
            </a:lvl1pPr>
            <a:lvl2pPr>
              <a:defRPr sz="3150" b="1" i="0">
                <a:solidFill>
                  <a:srgbClr val="F6C453"/>
                </a:solidFill>
              </a:defRPr>
            </a:lvl2pPr>
            <a:lvl3pPr>
              <a:defRPr sz="3150" b="1" i="0">
                <a:solidFill>
                  <a:srgbClr val="F6C453"/>
                </a:solidFill>
              </a:defRPr>
            </a:lvl3pPr>
            <a:lvl4pPr>
              <a:defRPr sz="3150" b="1" i="0">
                <a:solidFill>
                  <a:srgbClr val="F6C453"/>
                </a:solidFill>
              </a:defRPr>
            </a:lvl4pPr>
            <a:lvl5pPr>
              <a:defRPr sz="3150" b="1" i="0">
                <a:solidFill>
                  <a:srgbClr val="F6C453"/>
                </a:solidFill>
              </a:defRPr>
            </a:lvl5pPr>
            <a:lvl6pPr>
              <a:defRPr sz="3150" b="1" i="0">
                <a:solidFill>
                  <a:srgbClr val="F6C453"/>
                </a:solidFill>
              </a:defRPr>
            </a:lvl6pPr>
            <a:lvl7pPr>
              <a:defRPr sz="3150" b="1" i="0">
                <a:solidFill>
                  <a:srgbClr val="F6C453"/>
                </a:solidFill>
              </a:defRPr>
            </a:lvl7pPr>
            <a:lvl8pPr>
              <a:defRPr sz="3150" b="1" i="0">
                <a:solidFill>
                  <a:srgbClr val="F6C453"/>
                </a:solidFill>
              </a:defRPr>
            </a:lvl8pPr>
            <a:lvl9pPr>
              <a:defRPr sz="3150" b="1" i="0">
                <a:solidFill>
                  <a:srgbClr val="F6C453"/>
                </a:solidFill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6C453"/>
                </a:solidFill>
              </a:defRPr>
            </a:pPr>
            <a:r>
              <a:rPr sz="3150" b="1" i="0">
                <a:solidFill>
                  <a:srgbClr val="F6C453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8E1C8-BA22-46ED-BFC1-7D5A11D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 i="0">
                <a:solidFill>
                  <a:srgbClr val="5C6B80"/>
                </a:solidFill>
              </a:defRPr>
            </a:defPPr>
            <a:lvl1pPr>
              <a:defRPr sz="1275" b="0" i="0">
                <a:solidFill>
                  <a:srgbClr val="5C6B80"/>
                </a:solidFill>
              </a:defRPr>
            </a:lvl1pPr>
            <a:lvl2pPr>
              <a:defRPr sz="1275" b="0" i="0">
                <a:solidFill>
                  <a:srgbClr val="5C6B80"/>
                </a:solidFill>
              </a:defRPr>
            </a:lvl2pPr>
            <a:lvl3pPr>
              <a:defRPr sz="1275" b="0" i="0">
                <a:solidFill>
                  <a:srgbClr val="5C6B80"/>
                </a:solidFill>
              </a:defRPr>
            </a:lvl3pPr>
            <a:lvl4pPr>
              <a:defRPr sz="1275" b="0" i="0">
                <a:solidFill>
                  <a:srgbClr val="5C6B80"/>
                </a:solidFill>
              </a:defRPr>
            </a:lvl4pPr>
            <a:lvl5pPr>
              <a:defRPr sz="1275" b="0" i="0">
                <a:solidFill>
                  <a:srgbClr val="5C6B80"/>
                </a:solidFill>
              </a:defRPr>
            </a:lvl5pPr>
            <a:lvl6pPr>
              <a:defRPr sz="1275" b="0" i="0">
                <a:solidFill>
                  <a:srgbClr val="5C6B80"/>
                </a:solidFill>
              </a:defRPr>
            </a:lvl6pPr>
            <a:lvl7pPr>
              <a:defRPr sz="1275" b="0" i="0">
                <a:solidFill>
                  <a:srgbClr val="5C6B80"/>
                </a:solidFill>
              </a:defRPr>
            </a:lvl7pPr>
            <a:lvl8pPr>
              <a:defRPr sz="1275" b="0" i="0">
                <a:solidFill>
                  <a:srgbClr val="5C6B80"/>
                </a:solidFill>
              </a:defRPr>
            </a:lvl8pPr>
            <a:lvl9pPr>
              <a:defRPr sz="1275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5C6B80"/>
                </a:solidFill>
              </a:defRPr>
            </a:pPr>
            <a:r>
              <a:rPr sz="1275" b="0" i="0">
                <a:solidFill>
                  <a:srgbClr val="5C6B80"/>
                </a:solidFill>
              </a:rPr>
              <a:t>preguntas en esquemas no vistos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C6D3E-277E-4691-ACD3-2CA445B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01895-1798-49A7-AE29-CFB4679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 i="0">
                <a:solidFill>
                  <a:srgbClr val="12233D"/>
                </a:solidFill>
              </a:defRPr>
            </a:defPPr>
            <a:lvl1pPr>
              <a:defRPr sz="1650" b="0" i="0">
                <a:solidFill>
                  <a:srgbClr val="12233D"/>
                </a:solidFill>
              </a:defRPr>
            </a:lvl1pPr>
            <a:lvl2pPr>
              <a:defRPr sz="1650" b="0" i="0">
                <a:solidFill>
                  <a:srgbClr val="12233D"/>
                </a:solidFill>
              </a:defRPr>
            </a:lvl2pPr>
            <a:lvl3pPr>
              <a:defRPr sz="1650" b="0" i="0">
                <a:solidFill>
                  <a:srgbClr val="12233D"/>
                </a:solidFill>
              </a:defRPr>
            </a:lvl3pPr>
            <a:lvl4pPr>
              <a:defRPr sz="1650" b="0" i="0">
                <a:solidFill>
                  <a:srgbClr val="12233D"/>
                </a:solidFill>
              </a:defRPr>
            </a:lvl4pPr>
            <a:lvl5pPr>
              <a:defRPr sz="1650" b="0" i="0">
                <a:solidFill>
                  <a:srgbClr val="12233D"/>
                </a:solidFill>
              </a:defRPr>
            </a:lvl5pPr>
            <a:lvl6pPr>
              <a:defRPr sz="1650" b="0" i="0">
                <a:solidFill>
                  <a:srgbClr val="12233D"/>
                </a:solidFill>
              </a:defRPr>
            </a:lvl6pPr>
            <a:lvl7pPr>
              <a:defRPr sz="1650" b="0" i="0">
                <a:solidFill>
                  <a:srgbClr val="12233D"/>
                </a:solidFill>
              </a:defRPr>
            </a:lvl7pPr>
            <a:lvl8pPr>
              <a:defRPr sz="1650" b="0" i="0">
                <a:solidFill>
                  <a:srgbClr val="12233D"/>
                </a:solidFill>
              </a:defRPr>
            </a:lvl8pPr>
            <a:lvl9pPr>
              <a:defRPr sz="1650" b="0" i="0">
                <a:solidFill>
                  <a:srgbClr val="12233D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12233D"/>
                </a:solidFill>
              </a:defRPr>
            </a:pPr>
            <a:r>
              <a:rPr sz="1650" b="0" i="0">
                <a:solidFill>
                  <a:srgbClr val="12233D"/>
                </a:solidFill>
              </a:rPr>
              <a:t>Todas las consultas del conjunto fueron validadas en MySQL 8.4.10 con ONLY_FULL_GROUP_BY habilitado.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5930B-159F-4C80-9A25-3E8F3BD4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 i="0">
                <a:solidFill>
                  <a:srgbClr val="5C6B80"/>
                </a:solidFill>
              </a:defRPr>
            </a:defPPr>
            <a:lvl1pPr>
              <a:defRPr sz="750" b="0" i="0">
                <a:solidFill>
                  <a:srgbClr val="5C6B80"/>
                </a:solidFill>
              </a:defRPr>
            </a:lvl1pPr>
            <a:lvl2pPr>
              <a:defRPr sz="750" b="0" i="0">
                <a:solidFill>
                  <a:srgbClr val="5C6B80"/>
                </a:solidFill>
              </a:defRPr>
            </a:lvl2pPr>
            <a:lvl3pPr>
              <a:defRPr sz="750" b="0" i="0">
                <a:solidFill>
                  <a:srgbClr val="5C6B80"/>
                </a:solidFill>
              </a:defRPr>
            </a:lvl3pPr>
            <a:lvl4pPr>
              <a:defRPr sz="750" b="0" i="0">
                <a:solidFill>
                  <a:srgbClr val="5C6B80"/>
                </a:solidFill>
              </a:defRPr>
            </a:lvl4pPr>
            <a:lvl5pPr>
              <a:defRPr sz="750" b="0" i="0">
                <a:solidFill>
                  <a:srgbClr val="5C6B80"/>
                </a:solidFill>
              </a:defRPr>
            </a:lvl5pPr>
            <a:lvl6pPr>
              <a:defRPr sz="750" b="0" i="0">
                <a:solidFill>
                  <a:srgbClr val="5C6B80"/>
                </a:solidFill>
              </a:defRPr>
            </a:lvl6pPr>
            <a:lvl7pPr>
              <a:defRPr sz="750" b="0" i="0">
                <a:solidFill>
                  <a:srgbClr val="5C6B80"/>
                </a:solidFill>
              </a:defRPr>
            </a:lvl7pPr>
            <a:lvl8pPr>
              <a:defRPr sz="750" b="0" i="0">
                <a:solidFill>
                  <a:srgbClr val="5C6B80"/>
                </a:solidFill>
              </a:defRPr>
            </a:lvl8pPr>
            <a:lvl9pPr>
              <a:defRPr sz="7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C6B80"/>
                </a:solidFill>
              </a:defRPr>
            </a:pPr>
            <a:r>
              <a:rPr sz="750" b="0" i="0">
                <a:solidFill>
                  <a:srgbClr val="5C6B80"/>
                </a:solidFill>
              </a:rPr>
              <a:t>Hansel López · Deep Learning 2026</a:t>
            </a:r>
          </a:p>
        </p:txBody>
      </p:sp>
    </p:spTree>
    <p:extLst>
      <p:ext uri="{BB962C8B-B14F-4D97-AF65-F5344CB8AC3E}">
        <p14:creationId xmlns:p14="http://schemas.microsoft.com/office/powerpoint/2010/main" val="1438917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91B5C-4433-48CD-A787-A6461B58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1677C8"/>
                </a:solidFill>
              </a:defRPr>
            </a:defPPr>
            <a:lvl1pPr>
              <a:defRPr sz="900" b="1" i="0">
                <a:solidFill>
                  <a:srgbClr val="1677C8"/>
                </a:solidFill>
              </a:defRPr>
            </a:lvl1pPr>
            <a:lvl2pPr>
              <a:defRPr sz="900" b="1" i="0">
                <a:solidFill>
                  <a:srgbClr val="1677C8"/>
                </a:solidFill>
              </a:defRPr>
            </a:lvl2pPr>
            <a:lvl3pPr>
              <a:defRPr sz="900" b="1" i="0">
                <a:solidFill>
                  <a:srgbClr val="1677C8"/>
                </a:solidFill>
              </a:defRPr>
            </a:lvl3pPr>
            <a:lvl4pPr>
              <a:defRPr sz="900" b="1" i="0">
                <a:solidFill>
                  <a:srgbClr val="1677C8"/>
                </a:solidFill>
              </a:defRPr>
            </a:lvl4pPr>
            <a:lvl5pPr>
              <a:defRPr sz="900" b="1" i="0">
                <a:solidFill>
                  <a:srgbClr val="1677C8"/>
                </a:solidFill>
              </a:defRPr>
            </a:lvl5pPr>
            <a:lvl6pPr>
              <a:defRPr sz="900" b="1" i="0">
                <a:solidFill>
                  <a:srgbClr val="1677C8"/>
                </a:solidFill>
              </a:defRPr>
            </a:lvl6pPr>
            <a:lvl7pPr>
              <a:defRPr sz="900" b="1" i="0">
                <a:solidFill>
                  <a:srgbClr val="1677C8"/>
                </a:solidFill>
              </a:defRPr>
            </a:lvl7pPr>
            <a:lvl8pPr>
              <a:defRPr sz="900" b="1" i="0">
                <a:solidFill>
                  <a:srgbClr val="1677C8"/>
                </a:solidFill>
              </a:defRPr>
            </a:lvl8pPr>
            <a:lvl9pPr>
              <a:defRPr sz="9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677C8"/>
                </a:solidFill>
              </a:defRPr>
            </a:pPr>
            <a:r>
              <a:rPr sz="900" b="1" i="0">
                <a:solidFill>
                  <a:srgbClr val="1677C8"/>
                </a:solidFill>
              </a:rPr>
              <a:t>TEXT-TO-SQL CON LORA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40407-BAF2-42ED-B91E-2EC4930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 i="0">
                <a:solidFill>
                  <a:srgbClr val="0B1F3A"/>
                </a:solidFill>
              </a:defRPr>
            </a:defPPr>
            <a:lvl1pPr>
              <a:defRPr sz="2550" b="1" i="0">
                <a:solidFill>
                  <a:srgbClr val="0B1F3A"/>
                </a:solidFill>
              </a:defRPr>
            </a:lvl1pPr>
            <a:lvl2pPr>
              <a:defRPr sz="2550" b="1" i="0">
                <a:solidFill>
                  <a:srgbClr val="0B1F3A"/>
                </a:solidFill>
              </a:defRPr>
            </a:lvl2pPr>
            <a:lvl3pPr>
              <a:defRPr sz="2550" b="1" i="0">
                <a:solidFill>
                  <a:srgbClr val="0B1F3A"/>
                </a:solidFill>
              </a:defRPr>
            </a:lvl3pPr>
            <a:lvl4pPr>
              <a:defRPr sz="2550" b="1" i="0">
                <a:solidFill>
                  <a:srgbClr val="0B1F3A"/>
                </a:solidFill>
              </a:defRPr>
            </a:lvl4pPr>
            <a:lvl5pPr>
              <a:defRPr sz="2550" b="1" i="0">
                <a:solidFill>
                  <a:srgbClr val="0B1F3A"/>
                </a:solidFill>
              </a:defRPr>
            </a:lvl5pPr>
            <a:lvl6pPr>
              <a:defRPr sz="2550" b="1" i="0">
                <a:solidFill>
                  <a:srgbClr val="0B1F3A"/>
                </a:solidFill>
              </a:defRPr>
            </a:lvl6pPr>
            <a:lvl7pPr>
              <a:defRPr sz="2550" b="1" i="0">
                <a:solidFill>
                  <a:srgbClr val="0B1F3A"/>
                </a:solidFill>
              </a:defRPr>
            </a:lvl7pPr>
            <a:lvl8pPr>
              <a:defRPr sz="2550" b="1" i="0">
                <a:solidFill>
                  <a:srgbClr val="0B1F3A"/>
                </a:solidFill>
              </a:defRPr>
            </a:lvl8pPr>
            <a:lvl9pPr>
              <a:defRPr sz="25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550" b="1" i="0">
                <a:solidFill>
                  <a:srgbClr val="0B1F3A"/>
                </a:solidFill>
              </a:defRPr>
            </a:pPr>
            <a:r>
              <a:rPr sz="2550" b="1" i="0">
                <a:solidFill>
                  <a:srgbClr val="0B1F3A"/>
                </a:solidFill>
              </a:rPr>
              <a:t>Resultado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65B3E-D11C-4F2E-ADF2-F30D6B8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C76B0-72F4-4B2C-BE3A-83962BF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9E90327-F284-466F-A84C-4104963A0BB6}"/>
              </a:ext>
            </a:extLst>
          </p:cNvPr>
          <p:cNvGraphicFramePr/>
          <p:nvPr/>
        </p:nvGraphicFramePr>
        <p:xfrm>
          <a:off xmlns:a="http://schemas.openxmlformats.org/drawingml/2006/main" x="1381125" y="2143125"/>
          <a:ext xmlns:a="http://schemas.openxmlformats.org/drawingml/2006/main" cx="65722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fce4b20ef41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F240C-E67E-43EA-8978-5A47C1F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850" b="1" i="0">
                <a:solidFill>
                  <a:srgbClr val="45D6A8"/>
                </a:solidFill>
              </a:defRPr>
            </a:defPPr>
            <a:lvl1pPr>
              <a:defRPr sz="2850" b="1" i="0">
                <a:solidFill>
                  <a:srgbClr val="45D6A8"/>
                </a:solidFill>
              </a:defRPr>
            </a:lvl1pPr>
            <a:lvl2pPr>
              <a:defRPr sz="2850" b="1" i="0">
                <a:solidFill>
                  <a:srgbClr val="45D6A8"/>
                </a:solidFill>
              </a:defRPr>
            </a:lvl2pPr>
            <a:lvl3pPr>
              <a:defRPr sz="2850" b="1" i="0">
                <a:solidFill>
                  <a:srgbClr val="45D6A8"/>
                </a:solidFill>
              </a:defRPr>
            </a:lvl3pPr>
            <a:lvl4pPr>
              <a:defRPr sz="2850" b="1" i="0">
                <a:solidFill>
                  <a:srgbClr val="45D6A8"/>
                </a:solidFill>
              </a:defRPr>
            </a:lvl4pPr>
            <a:lvl5pPr>
              <a:defRPr sz="2850" b="1" i="0">
                <a:solidFill>
                  <a:srgbClr val="45D6A8"/>
                </a:solidFill>
              </a:defRPr>
            </a:lvl5pPr>
            <a:lvl6pPr>
              <a:defRPr sz="2850" b="1" i="0">
                <a:solidFill>
                  <a:srgbClr val="45D6A8"/>
                </a:solidFill>
              </a:defRPr>
            </a:lvl6pPr>
            <a:lvl7pPr>
              <a:defRPr sz="2850" b="1" i="0">
                <a:solidFill>
                  <a:srgbClr val="45D6A8"/>
                </a:solidFill>
              </a:defRPr>
            </a:lvl7pPr>
            <a:lvl8pPr>
              <a:defRPr sz="2850" b="1" i="0">
                <a:solidFill>
                  <a:srgbClr val="45D6A8"/>
                </a:solidFill>
              </a:defRPr>
            </a:lvl8pPr>
            <a:lvl9pPr>
              <a:defRPr sz="2850" b="1" i="0">
                <a:solidFill>
                  <a:srgbClr val="45D6A8"/>
                </a:solidFill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45D6A8"/>
                </a:solidFill>
              </a:defRPr>
            </a:pPr>
            <a:r>
              <a:rPr sz="2850" b="1" i="0">
                <a:solidFill>
                  <a:srgbClr val="45D6A8"/>
                </a:solidFill>
              </a:rPr>
              <a:t>+0.5417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0E3E-4CE0-4E9A-B79A-4EAED8D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5C6B80"/>
                </a:solidFill>
              </a:defRPr>
            </a:defPPr>
            <a:lvl1pPr>
              <a:defRPr sz="1350" b="0" i="0">
                <a:solidFill>
                  <a:srgbClr val="5C6B80"/>
                </a:solidFill>
              </a:defRPr>
            </a:lvl1pPr>
            <a:lvl2pPr>
              <a:defRPr sz="1350" b="0" i="0">
                <a:solidFill>
                  <a:srgbClr val="5C6B80"/>
                </a:solidFill>
              </a:defRPr>
            </a:lvl2pPr>
            <a:lvl3pPr>
              <a:defRPr sz="1350" b="0" i="0">
                <a:solidFill>
                  <a:srgbClr val="5C6B80"/>
                </a:solidFill>
              </a:defRPr>
            </a:lvl3pPr>
            <a:lvl4pPr>
              <a:defRPr sz="1350" b="0" i="0">
                <a:solidFill>
                  <a:srgbClr val="5C6B80"/>
                </a:solidFill>
              </a:defRPr>
            </a:lvl4pPr>
            <a:lvl5pPr>
              <a:defRPr sz="1350" b="0" i="0">
                <a:solidFill>
                  <a:srgbClr val="5C6B80"/>
                </a:solidFill>
              </a:defRPr>
            </a:lvl5pPr>
            <a:lvl6pPr>
              <a:defRPr sz="1350" b="0" i="0">
                <a:solidFill>
                  <a:srgbClr val="5C6B80"/>
                </a:solidFill>
              </a:defRPr>
            </a:lvl6pPr>
            <a:lvl7pPr>
              <a:defRPr sz="1350" b="0" i="0">
                <a:solidFill>
                  <a:srgbClr val="5C6B80"/>
                </a:solidFill>
              </a:defRPr>
            </a:lvl7pPr>
            <a:lvl8pPr>
              <a:defRPr sz="1350" b="0" i="0">
                <a:solidFill>
                  <a:srgbClr val="5C6B80"/>
                </a:solidFill>
              </a:defRPr>
            </a:lvl8pPr>
            <a:lvl9pPr>
              <a:defRPr sz="13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mejora absoluta</a:t>
            </a:r>
          </a:p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en EX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842AE-3523-4AEE-9DA8-A3F7E2EA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0B1F3A"/>
                </a:solidFill>
              </a:defRPr>
            </a:defPPr>
            <a:lvl1pPr>
              <a:defRPr sz="1500" b="1" i="0">
                <a:solidFill>
                  <a:srgbClr val="0B1F3A"/>
                </a:solidFill>
              </a:defRPr>
            </a:lvl1pPr>
            <a:lvl2pPr>
              <a:defRPr sz="1500" b="1" i="0">
                <a:solidFill>
                  <a:srgbClr val="0B1F3A"/>
                </a:solidFill>
              </a:defRPr>
            </a:lvl2pPr>
            <a:lvl3pPr>
              <a:defRPr sz="1500" b="1" i="0">
                <a:solidFill>
                  <a:srgbClr val="0B1F3A"/>
                </a:solidFill>
              </a:defRPr>
            </a:lvl3pPr>
            <a:lvl4pPr>
              <a:defRPr sz="1500" b="1" i="0">
                <a:solidFill>
                  <a:srgbClr val="0B1F3A"/>
                </a:solidFill>
              </a:defRPr>
            </a:lvl4pPr>
            <a:lvl5pPr>
              <a:defRPr sz="1500" b="1" i="0">
                <a:solidFill>
                  <a:srgbClr val="0B1F3A"/>
                </a:solidFill>
              </a:defRPr>
            </a:lvl5pPr>
            <a:lvl6pPr>
              <a:defRPr sz="1500" b="1" i="0">
                <a:solidFill>
                  <a:srgbClr val="0B1F3A"/>
                </a:solidFill>
              </a:defRPr>
            </a:lvl6pPr>
            <a:lvl7pPr>
              <a:defRPr sz="1500" b="1" i="0">
                <a:solidFill>
                  <a:srgbClr val="0B1F3A"/>
                </a:solidFill>
              </a:defRPr>
            </a:lvl7pPr>
            <a:lvl8pPr>
              <a:defRPr sz="1500" b="1" i="0">
                <a:solidFill>
                  <a:srgbClr val="0B1F3A"/>
                </a:solidFill>
              </a:defRPr>
            </a:lvl8pPr>
            <a:lvl9pPr>
              <a:defRPr sz="150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0B1F3A"/>
                </a:solidFill>
              </a:defRPr>
            </a:pPr>
            <a:r>
              <a:rPr sz="1500" b="1" i="0">
                <a:solidFill>
                  <a:srgbClr val="0B1F3A"/>
                </a:solidFill>
              </a:rPr>
              <a:t>30 de 41 preguntas correctas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9A6A8-EDEA-4303-984B-D07D2F05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 i="0">
                <a:solidFill>
                  <a:srgbClr val="5C6B80"/>
                </a:solidFill>
              </a:defRPr>
            </a:defPPr>
            <a:lvl1pPr>
              <a:defRPr sz="750" b="0" i="0">
                <a:solidFill>
                  <a:srgbClr val="5C6B80"/>
                </a:solidFill>
              </a:defRPr>
            </a:lvl1pPr>
            <a:lvl2pPr>
              <a:defRPr sz="750" b="0" i="0">
                <a:solidFill>
                  <a:srgbClr val="5C6B80"/>
                </a:solidFill>
              </a:defRPr>
            </a:lvl2pPr>
            <a:lvl3pPr>
              <a:defRPr sz="750" b="0" i="0">
                <a:solidFill>
                  <a:srgbClr val="5C6B80"/>
                </a:solidFill>
              </a:defRPr>
            </a:lvl3pPr>
            <a:lvl4pPr>
              <a:defRPr sz="750" b="0" i="0">
                <a:solidFill>
                  <a:srgbClr val="5C6B80"/>
                </a:solidFill>
              </a:defRPr>
            </a:lvl4pPr>
            <a:lvl5pPr>
              <a:defRPr sz="750" b="0" i="0">
                <a:solidFill>
                  <a:srgbClr val="5C6B80"/>
                </a:solidFill>
              </a:defRPr>
            </a:lvl5pPr>
            <a:lvl6pPr>
              <a:defRPr sz="750" b="0" i="0">
                <a:solidFill>
                  <a:srgbClr val="5C6B80"/>
                </a:solidFill>
              </a:defRPr>
            </a:lvl6pPr>
            <a:lvl7pPr>
              <a:defRPr sz="750" b="0" i="0">
                <a:solidFill>
                  <a:srgbClr val="5C6B80"/>
                </a:solidFill>
              </a:defRPr>
            </a:lvl7pPr>
            <a:lvl8pPr>
              <a:defRPr sz="750" b="0" i="0">
                <a:solidFill>
                  <a:srgbClr val="5C6B80"/>
                </a:solidFill>
              </a:defRPr>
            </a:lvl8pPr>
            <a:lvl9pPr>
              <a:defRPr sz="7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C6B80"/>
                </a:solidFill>
              </a:defRPr>
            </a:pPr>
            <a:r>
              <a:rPr sz="750" b="0" i="0">
                <a:solidFill>
                  <a:srgbClr val="5C6B80"/>
                </a:solidFill>
              </a:rPr>
              <a:t>Hansel López · Deep Learning 2026</a:t>
            </a:r>
          </a:p>
        </p:txBody>
      </p:sp>
    </p:spTree>
    <p:extLst>
      <p:ext uri="{BB962C8B-B14F-4D97-AF65-F5344CB8AC3E}">
        <p14:creationId xmlns:p14="http://schemas.microsoft.com/office/powerpoint/2010/main" val="986220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F5737-AD66-4287-89E3-6789F59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1677C8"/>
                </a:solidFill>
              </a:defRPr>
            </a:defPPr>
            <a:lvl1pPr>
              <a:defRPr sz="900" b="1" i="0">
                <a:solidFill>
                  <a:srgbClr val="1677C8"/>
                </a:solidFill>
              </a:defRPr>
            </a:lvl1pPr>
            <a:lvl2pPr>
              <a:defRPr sz="900" b="1" i="0">
                <a:solidFill>
                  <a:srgbClr val="1677C8"/>
                </a:solidFill>
              </a:defRPr>
            </a:lvl2pPr>
            <a:lvl3pPr>
              <a:defRPr sz="900" b="1" i="0">
                <a:solidFill>
                  <a:srgbClr val="1677C8"/>
                </a:solidFill>
              </a:defRPr>
            </a:lvl3pPr>
            <a:lvl4pPr>
              <a:defRPr sz="900" b="1" i="0">
                <a:solidFill>
                  <a:srgbClr val="1677C8"/>
                </a:solidFill>
              </a:defRPr>
            </a:lvl4pPr>
            <a:lvl5pPr>
              <a:defRPr sz="900" b="1" i="0">
                <a:solidFill>
                  <a:srgbClr val="1677C8"/>
                </a:solidFill>
              </a:defRPr>
            </a:lvl5pPr>
            <a:lvl6pPr>
              <a:defRPr sz="900" b="1" i="0">
                <a:solidFill>
                  <a:srgbClr val="1677C8"/>
                </a:solidFill>
              </a:defRPr>
            </a:lvl6pPr>
            <a:lvl7pPr>
              <a:defRPr sz="900" b="1" i="0">
                <a:solidFill>
                  <a:srgbClr val="1677C8"/>
                </a:solidFill>
              </a:defRPr>
            </a:lvl7pPr>
            <a:lvl8pPr>
              <a:defRPr sz="900" b="1" i="0">
                <a:solidFill>
                  <a:srgbClr val="1677C8"/>
                </a:solidFill>
              </a:defRPr>
            </a:lvl8pPr>
            <a:lvl9pPr>
              <a:defRPr sz="9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677C8"/>
                </a:solidFill>
              </a:defRPr>
            </a:pPr>
            <a:r>
              <a:rPr sz="900" b="1" i="0">
                <a:solidFill>
                  <a:srgbClr val="1677C8"/>
                </a:solidFill>
              </a:rPr>
              <a:t>TEXT-TO-SQL CON LORA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05FED-A6CE-4D11-A7CF-A620C27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 i="0">
                <a:solidFill>
                  <a:srgbClr val="0B1F3A"/>
                </a:solidFill>
              </a:defRPr>
            </a:defPPr>
            <a:lvl1pPr>
              <a:defRPr sz="2550" b="1" i="0">
                <a:solidFill>
                  <a:srgbClr val="0B1F3A"/>
                </a:solidFill>
              </a:defRPr>
            </a:lvl1pPr>
            <a:lvl2pPr>
              <a:defRPr sz="2550" b="1" i="0">
                <a:solidFill>
                  <a:srgbClr val="0B1F3A"/>
                </a:solidFill>
              </a:defRPr>
            </a:lvl2pPr>
            <a:lvl3pPr>
              <a:defRPr sz="2550" b="1" i="0">
                <a:solidFill>
                  <a:srgbClr val="0B1F3A"/>
                </a:solidFill>
              </a:defRPr>
            </a:lvl3pPr>
            <a:lvl4pPr>
              <a:defRPr sz="2550" b="1" i="0">
                <a:solidFill>
                  <a:srgbClr val="0B1F3A"/>
                </a:solidFill>
              </a:defRPr>
            </a:lvl4pPr>
            <a:lvl5pPr>
              <a:defRPr sz="2550" b="1" i="0">
                <a:solidFill>
                  <a:srgbClr val="0B1F3A"/>
                </a:solidFill>
              </a:defRPr>
            </a:lvl5pPr>
            <a:lvl6pPr>
              <a:defRPr sz="2550" b="1" i="0">
                <a:solidFill>
                  <a:srgbClr val="0B1F3A"/>
                </a:solidFill>
              </a:defRPr>
            </a:lvl6pPr>
            <a:lvl7pPr>
              <a:defRPr sz="2550" b="1" i="0">
                <a:solidFill>
                  <a:srgbClr val="0B1F3A"/>
                </a:solidFill>
              </a:defRPr>
            </a:lvl7pPr>
            <a:lvl8pPr>
              <a:defRPr sz="2550" b="1" i="0">
                <a:solidFill>
                  <a:srgbClr val="0B1F3A"/>
                </a:solidFill>
              </a:defRPr>
            </a:lvl8pPr>
            <a:lvl9pPr>
              <a:defRPr sz="25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550" b="1" i="0">
                <a:solidFill>
                  <a:srgbClr val="0B1F3A"/>
                </a:solidFill>
              </a:defRPr>
            </a:pPr>
            <a:r>
              <a:rPr sz="2550" b="1" i="0">
                <a:solidFill>
                  <a:srgbClr val="0B1F3A"/>
                </a:solidFill>
              </a:rPr>
              <a:t>Configuración de entrenamiento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938B-3126-438D-A0BC-5D33C9C0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46180-4477-43E2-B185-55CEA74F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0B1F3A"/>
                </a:solidFill>
              </a:defRPr>
            </a:defPPr>
            <a:lvl1pPr>
              <a:defRPr sz="2100" b="1" i="0">
                <a:solidFill>
                  <a:srgbClr val="0B1F3A"/>
                </a:solidFill>
              </a:defRPr>
            </a:lvl1pPr>
            <a:lvl2pPr>
              <a:defRPr sz="2100" b="1" i="0">
                <a:solidFill>
                  <a:srgbClr val="0B1F3A"/>
                </a:solidFill>
              </a:defRPr>
            </a:lvl2pPr>
            <a:lvl3pPr>
              <a:defRPr sz="2100" b="1" i="0">
                <a:solidFill>
                  <a:srgbClr val="0B1F3A"/>
                </a:solidFill>
              </a:defRPr>
            </a:lvl3pPr>
            <a:lvl4pPr>
              <a:defRPr sz="2100" b="1" i="0">
                <a:solidFill>
                  <a:srgbClr val="0B1F3A"/>
                </a:solidFill>
              </a:defRPr>
            </a:lvl4pPr>
            <a:lvl5pPr>
              <a:defRPr sz="2100" b="1" i="0">
                <a:solidFill>
                  <a:srgbClr val="0B1F3A"/>
                </a:solidFill>
              </a:defRPr>
            </a:lvl5pPr>
            <a:lvl6pPr>
              <a:defRPr sz="2100" b="1" i="0">
                <a:solidFill>
                  <a:srgbClr val="0B1F3A"/>
                </a:solidFill>
              </a:defRPr>
            </a:lvl6pPr>
            <a:lvl7pPr>
              <a:defRPr sz="2100" b="1" i="0">
                <a:solidFill>
                  <a:srgbClr val="0B1F3A"/>
                </a:solidFill>
              </a:defRPr>
            </a:lvl7pPr>
            <a:lvl8pPr>
              <a:defRPr sz="2100" b="1" i="0">
                <a:solidFill>
                  <a:srgbClr val="0B1F3A"/>
                </a:solidFill>
              </a:defRPr>
            </a:lvl8pPr>
            <a:lvl9pPr>
              <a:defRPr sz="210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0B1F3A"/>
                </a:solidFill>
              </a:defRPr>
            </a:pPr>
            <a:r>
              <a:rPr sz="2100" b="1" i="0">
                <a:solidFill>
                  <a:srgbClr val="0B1F3A"/>
                </a:solidFill>
              </a:rPr>
              <a:t>Qwen/Qwen2.5-Coder-1.5B-Instruct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80370-29D5-4FA3-BCAF-F19AE74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5C6B80"/>
                </a:solidFill>
              </a:defRPr>
            </a:defPPr>
            <a:lvl1pPr>
              <a:defRPr sz="1200" b="0" i="0">
                <a:solidFill>
                  <a:srgbClr val="5C6B80"/>
                </a:solidFill>
              </a:defRPr>
            </a:lvl1pPr>
            <a:lvl2pPr>
              <a:defRPr sz="1200" b="0" i="0">
                <a:solidFill>
                  <a:srgbClr val="5C6B80"/>
                </a:solidFill>
              </a:defRPr>
            </a:lvl2pPr>
            <a:lvl3pPr>
              <a:defRPr sz="1200" b="0" i="0">
                <a:solidFill>
                  <a:srgbClr val="5C6B80"/>
                </a:solidFill>
              </a:defRPr>
            </a:lvl3pPr>
            <a:lvl4pPr>
              <a:defRPr sz="1200" b="0" i="0">
                <a:solidFill>
                  <a:srgbClr val="5C6B80"/>
                </a:solidFill>
              </a:defRPr>
            </a:lvl4pPr>
            <a:lvl5pPr>
              <a:defRPr sz="1200" b="0" i="0">
                <a:solidFill>
                  <a:srgbClr val="5C6B80"/>
                </a:solidFill>
              </a:defRPr>
            </a:lvl5pPr>
            <a:lvl6pPr>
              <a:defRPr sz="1200" b="0" i="0">
                <a:solidFill>
                  <a:srgbClr val="5C6B80"/>
                </a:solidFill>
              </a:defRPr>
            </a:lvl6pPr>
            <a:lvl7pPr>
              <a:defRPr sz="1200" b="0" i="0">
                <a:solidFill>
                  <a:srgbClr val="5C6B80"/>
                </a:solidFill>
              </a:defRPr>
            </a:lvl7pPr>
            <a:lvl8pPr>
              <a:defRPr sz="1200" b="0" i="0">
                <a:solidFill>
                  <a:srgbClr val="5C6B80"/>
                </a:solidFill>
              </a:defRPr>
            </a:lvl8pPr>
            <a:lvl9pPr>
              <a:defRPr sz="120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5C6B80"/>
                </a:solidFill>
              </a:defRPr>
            </a:pPr>
            <a:r>
              <a:rPr sz="1200" b="0" i="0">
                <a:solidFill>
                  <a:srgbClr val="5C6B80"/>
                </a:solidFill>
              </a:rPr>
              <a:t>Modelo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17A8F-12E6-475C-A50F-035B139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1677C8"/>
                </a:solidFill>
              </a:defRPr>
            </a:defPPr>
            <a:lvl1pPr>
              <a:defRPr sz="2100" b="1" i="0">
                <a:solidFill>
                  <a:srgbClr val="1677C8"/>
                </a:solidFill>
              </a:defRPr>
            </a:lvl1pPr>
            <a:lvl2pPr>
              <a:defRPr sz="2100" b="1" i="0">
                <a:solidFill>
                  <a:srgbClr val="1677C8"/>
                </a:solidFill>
              </a:defRPr>
            </a:lvl2pPr>
            <a:lvl3pPr>
              <a:defRPr sz="2100" b="1" i="0">
                <a:solidFill>
                  <a:srgbClr val="1677C8"/>
                </a:solidFill>
              </a:defRPr>
            </a:lvl3pPr>
            <a:lvl4pPr>
              <a:defRPr sz="2100" b="1" i="0">
                <a:solidFill>
                  <a:srgbClr val="1677C8"/>
                </a:solidFill>
              </a:defRPr>
            </a:lvl4pPr>
            <a:lvl5pPr>
              <a:defRPr sz="2100" b="1" i="0">
                <a:solidFill>
                  <a:srgbClr val="1677C8"/>
                </a:solidFill>
              </a:defRPr>
            </a:lvl5pPr>
            <a:lvl6pPr>
              <a:defRPr sz="2100" b="1" i="0">
                <a:solidFill>
                  <a:srgbClr val="1677C8"/>
                </a:solidFill>
              </a:defRPr>
            </a:lvl6pPr>
            <a:lvl7pPr>
              <a:defRPr sz="2100" b="1" i="0">
                <a:solidFill>
                  <a:srgbClr val="1677C8"/>
                </a:solidFill>
              </a:defRPr>
            </a:lvl7pPr>
            <a:lvl8pPr>
              <a:defRPr sz="2100" b="1" i="0">
                <a:solidFill>
                  <a:srgbClr val="1677C8"/>
                </a:solidFill>
              </a:defRPr>
            </a:lvl8pPr>
            <a:lvl9pPr>
              <a:defRPr sz="21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677C8"/>
                </a:solidFill>
              </a:defRPr>
            </a:pPr>
            <a:r>
              <a:rPr sz="2100" b="1" i="0">
                <a:solidFill>
                  <a:srgbClr val="1677C8"/>
                </a:solidFill>
              </a:rPr>
              <a:t>LoRA · rank 16 · alpha 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E9ED-A398-4065-BE00-87F239E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 i="0">
                <a:solidFill>
                  <a:srgbClr val="5C6B80"/>
                </a:solidFill>
              </a:defRPr>
            </a:defPPr>
            <a:lvl1pPr>
              <a:defRPr sz="1275" b="0" i="0">
                <a:solidFill>
                  <a:srgbClr val="5C6B80"/>
                </a:solidFill>
              </a:defRPr>
            </a:lvl1pPr>
            <a:lvl2pPr>
              <a:defRPr sz="1275" b="0" i="0">
                <a:solidFill>
                  <a:srgbClr val="5C6B80"/>
                </a:solidFill>
              </a:defRPr>
            </a:lvl2pPr>
            <a:lvl3pPr>
              <a:defRPr sz="1275" b="0" i="0">
                <a:solidFill>
                  <a:srgbClr val="5C6B80"/>
                </a:solidFill>
              </a:defRPr>
            </a:lvl3pPr>
            <a:lvl4pPr>
              <a:defRPr sz="1275" b="0" i="0">
                <a:solidFill>
                  <a:srgbClr val="5C6B80"/>
                </a:solidFill>
              </a:defRPr>
            </a:lvl4pPr>
            <a:lvl5pPr>
              <a:defRPr sz="1275" b="0" i="0">
                <a:solidFill>
                  <a:srgbClr val="5C6B80"/>
                </a:solidFill>
              </a:defRPr>
            </a:lvl5pPr>
            <a:lvl6pPr>
              <a:defRPr sz="1275" b="0" i="0">
                <a:solidFill>
                  <a:srgbClr val="5C6B80"/>
                </a:solidFill>
              </a:defRPr>
            </a:lvl6pPr>
            <a:lvl7pPr>
              <a:defRPr sz="1275" b="0" i="0">
                <a:solidFill>
                  <a:srgbClr val="5C6B80"/>
                </a:solidFill>
              </a:defRPr>
            </a:lvl7pPr>
            <a:lvl8pPr>
              <a:defRPr sz="1275" b="0" i="0">
                <a:solidFill>
                  <a:srgbClr val="5C6B80"/>
                </a:solidFill>
              </a:defRPr>
            </a:lvl8pPr>
            <a:lvl9pPr>
              <a:defRPr sz="1275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5C6B80"/>
                </a:solidFill>
              </a:defRPr>
            </a:pPr>
            <a:r>
              <a:rPr sz="1275" b="0" i="0">
                <a:solidFill>
                  <a:srgbClr val="5C6B80"/>
                </a:solidFill>
              </a:rPr>
              <a:t>Módulos q_proj, k_proj, v_proj y o_proj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91860-2470-4CD5-AA99-89EC9DA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66875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824B5-B7E6-4749-9723-34D4B8A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 i="0">
                <a:solidFill>
                  <a:srgbClr val="45D6A8"/>
                </a:solidFill>
              </a:defRPr>
            </a:defPPr>
            <a:lvl1pPr>
              <a:defRPr sz="3600" b="1" i="0">
                <a:solidFill>
                  <a:srgbClr val="45D6A8"/>
                </a:solidFill>
              </a:defRPr>
            </a:lvl1pPr>
            <a:lvl2pPr>
              <a:defRPr sz="3600" b="1" i="0">
                <a:solidFill>
                  <a:srgbClr val="45D6A8"/>
                </a:solidFill>
              </a:defRPr>
            </a:lvl2pPr>
            <a:lvl3pPr>
              <a:defRPr sz="3600" b="1" i="0">
                <a:solidFill>
                  <a:srgbClr val="45D6A8"/>
                </a:solidFill>
              </a:defRPr>
            </a:lvl3pPr>
            <a:lvl4pPr>
              <a:defRPr sz="3600" b="1" i="0">
                <a:solidFill>
                  <a:srgbClr val="45D6A8"/>
                </a:solidFill>
              </a:defRPr>
            </a:lvl4pPr>
            <a:lvl5pPr>
              <a:defRPr sz="3600" b="1" i="0">
                <a:solidFill>
                  <a:srgbClr val="45D6A8"/>
                </a:solidFill>
              </a:defRPr>
            </a:lvl5pPr>
            <a:lvl6pPr>
              <a:defRPr sz="3600" b="1" i="0">
                <a:solidFill>
                  <a:srgbClr val="45D6A8"/>
                </a:solidFill>
              </a:defRPr>
            </a:lvl6pPr>
            <a:lvl7pPr>
              <a:defRPr sz="3600" b="1" i="0">
                <a:solidFill>
                  <a:srgbClr val="45D6A8"/>
                </a:solidFill>
              </a:defRPr>
            </a:lvl7pPr>
            <a:lvl8pPr>
              <a:defRPr sz="3600" b="1" i="0">
                <a:solidFill>
                  <a:srgbClr val="45D6A8"/>
                </a:solidFill>
              </a:defRPr>
            </a:lvl8pPr>
            <a:lvl9pPr>
              <a:defRPr sz="3600" b="1" i="0">
                <a:solidFill>
                  <a:srgbClr val="45D6A8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45D6A8"/>
                </a:solidFill>
              </a:defRPr>
            </a:pPr>
            <a:r>
              <a:rPr sz="3600" b="1" i="0">
                <a:solidFill>
                  <a:srgbClr val="45D6A8"/>
                </a:solidFill>
              </a:rPr>
              <a:t>0.14%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DE785-0DEE-4D69-B7ED-5648ADE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33675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5C6B80"/>
                </a:solidFill>
              </a:defRPr>
            </a:defPPr>
            <a:lvl1pPr>
              <a:defRPr sz="1350" b="0" i="0">
                <a:solidFill>
                  <a:srgbClr val="5C6B80"/>
                </a:solidFill>
              </a:defRPr>
            </a:lvl1pPr>
            <a:lvl2pPr>
              <a:defRPr sz="1350" b="0" i="0">
                <a:solidFill>
                  <a:srgbClr val="5C6B80"/>
                </a:solidFill>
              </a:defRPr>
            </a:lvl2pPr>
            <a:lvl3pPr>
              <a:defRPr sz="1350" b="0" i="0">
                <a:solidFill>
                  <a:srgbClr val="5C6B80"/>
                </a:solidFill>
              </a:defRPr>
            </a:lvl3pPr>
            <a:lvl4pPr>
              <a:defRPr sz="1350" b="0" i="0">
                <a:solidFill>
                  <a:srgbClr val="5C6B80"/>
                </a:solidFill>
              </a:defRPr>
            </a:lvl4pPr>
            <a:lvl5pPr>
              <a:defRPr sz="1350" b="0" i="0">
                <a:solidFill>
                  <a:srgbClr val="5C6B80"/>
                </a:solidFill>
              </a:defRPr>
            </a:lvl5pPr>
            <a:lvl6pPr>
              <a:defRPr sz="1350" b="0" i="0">
                <a:solidFill>
                  <a:srgbClr val="5C6B80"/>
                </a:solidFill>
              </a:defRPr>
            </a:lvl6pPr>
            <a:lvl7pPr>
              <a:defRPr sz="1350" b="0" i="0">
                <a:solidFill>
                  <a:srgbClr val="5C6B80"/>
                </a:solidFill>
              </a:defRPr>
            </a:lvl7pPr>
            <a:lvl8pPr>
              <a:defRPr sz="1350" b="0" i="0">
                <a:solidFill>
                  <a:srgbClr val="5C6B80"/>
                </a:solidFill>
              </a:defRPr>
            </a:lvl8pPr>
            <a:lvl9pPr>
              <a:defRPr sz="13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parámetros entrenables</a:t>
            </a:r>
          </a:p>
          <a:p xmlns:a="http://schemas.openxmlformats.org/drawingml/2006/main">
            <a:pPr>
              <a:defRPr sz="1350" b="0" i="0">
                <a:solidFill>
                  <a:srgbClr val="5C6B80"/>
                </a:solidFill>
              </a:defRPr>
            </a:pPr>
            <a:r>
              <a:rPr sz="1350" b="0" i="0">
                <a:solidFill>
                  <a:srgbClr val="5C6B80"/>
                </a:solidFill>
              </a:rPr>
              <a:t>2,179,072 de 1.5B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1F09D-E664-4E41-A68F-97DA6F9B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 i="0">
                <a:solidFill>
                  <a:srgbClr val="12233D"/>
                </a:solidFill>
              </a:defRPr>
            </a:defPPr>
            <a:lvl1pPr>
              <a:defRPr sz="1575" b="0" i="0">
                <a:solidFill>
                  <a:srgbClr val="12233D"/>
                </a:solidFill>
              </a:defRPr>
            </a:lvl1pPr>
            <a:lvl2pPr>
              <a:defRPr sz="1575" b="0" i="0">
                <a:solidFill>
                  <a:srgbClr val="12233D"/>
                </a:solidFill>
              </a:defRPr>
            </a:lvl2pPr>
            <a:lvl3pPr>
              <a:defRPr sz="1575" b="0" i="0">
                <a:solidFill>
                  <a:srgbClr val="12233D"/>
                </a:solidFill>
              </a:defRPr>
            </a:lvl3pPr>
            <a:lvl4pPr>
              <a:defRPr sz="1575" b="0" i="0">
                <a:solidFill>
                  <a:srgbClr val="12233D"/>
                </a:solidFill>
              </a:defRPr>
            </a:lvl4pPr>
            <a:lvl5pPr>
              <a:defRPr sz="1575" b="0" i="0">
                <a:solidFill>
                  <a:srgbClr val="12233D"/>
                </a:solidFill>
              </a:defRPr>
            </a:lvl5pPr>
            <a:lvl6pPr>
              <a:defRPr sz="1575" b="0" i="0">
                <a:solidFill>
                  <a:srgbClr val="12233D"/>
                </a:solidFill>
              </a:defRPr>
            </a:lvl6pPr>
            <a:lvl7pPr>
              <a:defRPr sz="1575" b="0" i="0">
                <a:solidFill>
                  <a:srgbClr val="12233D"/>
                </a:solidFill>
              </a:defRPr>
            </a:lvl7pPr>
            <a:lvl8pPr>
              <a:defRPr sz="1575" b="0" i="0">
                <a:solidFill>
                  <a:srgbClr val="12233D"/>
                </a:solidFill>
              </a:defRPr>
            </a:lvl8pPr>
            <a:lvl9pPr>
              <a:defRPr sz="1575" b="0" i="0">
                <a:solidFill>
                  <a:srgbClr val="12233D"/>
                </a:solidFill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2233D"/>
                </a:solidFill>
              </a:defRPr>
            </a:pPr>
            <a:r>
              <a:rPr sz="1575" b="0" i="0">
                <a:solidFill>
                  <a:srgbClr val="12233D"/>
                </a:solidFill>
              </a:rPr>
              <a:t>28.77 horas de entrenamiento en MacBook Air M3 con 24 GB de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8A699-33CF-40F2-A8AD-1B351AC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 i="0">
                <a:solidFill>
                  <a:srgbClr val="5C6B80"/>
                </a:solidFill>
              </a:defRPr>
            </a:defPPr>
            <a:lvl1pPr>
              <a:defRPr sz="750" b="0" i="0">
                <a:solidFill>
                  <a:srgbClr val="5C6B80"/>
                </a:solidFill>
              </a:defRPr>
            </a:lvl1pPr>
            <a:lvl2pPr>
              <a:defRPr sz="750" b="0" i="0">
                <a:solidFill>
                  <a:srgbClr val="5C6B80"/>
                </a:solidFill>
              </a:defRPr>
            </a:lvl2pPr>
            <a:lvl3pPr>
              <a:defRPr sz="750" b="0" i="0">
                <a:solidFill>
                  <a:srgbClr val="5C6B80"/>
                </a:solidFill>
              </a:defRPr>
            </a:lvl3pPr>
            <a:lvl4pPr>
              <a:defRPr sz="750" b="0" i="0">
                <a:solidFill>
                  <a:srgbClr val="5C6B80"/>
                </a:solidFill>
              </a:defRPr>
            </a:lvl4pPr>
            <a:lvl5pPr>
              <a:defRPr sz="750" b="0" i="0">
                <a:solidFill>
                  <a:srgbClr val="5C6B80"/>
                </a:solidFill>
              </a:defRPr>
            </a:lvl5pPr>
            <a:lvl6pPr>
              <a:defRPr sz="750" b="0" i="0">
                <a:solidFill>
                  <a:srgbClr val="5C6B80"/>
                </a:solidFill>
              </a:defRPr>
            </a:lvl6pPr>
            <a:lvl7pPr>
              <a:defRPr sz="750" b="0" i="0">
                <a:solidFill>
                  <a:srgbClr val="5C6B80"/>
                </a:solidFill>
              </a:defRPr>
            </a:lvl7pPr>
            <a:lvl8pPr>
              <a:defRPr sz="750" b="0" i="0">
                <a:solidFill>
                  <a:srgbClr val="5C6B80"/>
                </a:solidFill>
              </a:defRPr>
            </a:lvl8pPr>
            <a:lvl9pPr>
              <a:defRPr sz="7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C6B80"/>
                </a:solidFill>
              </a:defRPr>
            </a:pPr>
            <a:r>
              <a:rPr sz="750" b="0" i="0">
                <a:solidFill>
                  <a:srgbClr val="5C6B80"/>
                </a:solidFill>
              </a:rPr>
              <a:t>Hansel López · Deep Learning 2026</a:t>
            </a:r>
          </a:p>
        </p:txBody>
      </p:sp>
    </p:spTree>
    <p:extLst>
      <p:ext uri="{BB962C8B-B14F-4D97-AF65-F5344CB8AC3E}">
        <p14:creationId xmlns:p14="http://schemas.microsoft.com/office/powerpoint/2010/main" val="1541151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AA3A6-060C-4404-99D5-3A8EA6C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1677C8"/>
                </a:solidFill>
              </a:defRPr>
            </a:defPPr>
            <a:lvl1pPr>
              <a:defRPr sz="900" b="1" i="0">
                <a:solidFill>
                  <a:srgbClr val="1677C8"/>
                </a:solidFill>
              </a:defRPr>
            </a:lvl1pPr>
            <a:lvl2pPr>
              <a:defRPr sz="900" b="1" i="0">
                <a:solidFill>
                  <a:srgbClr val="1677C8"/>
                </a:solidFill>
              </a:defRPr>
            </a:lvl2pPr>
            <a:lvl3pPr>
              <a:defRPr sz="900" b="1" i="0">
                <a:solidFill>
                  <a:srgbClr val="1677C8"/>
                </a:solidFill>
              </a:defRPr>
            </a:lvl3pPr>
            <a:lvl4pPr>
              <a:defRPr sz="900" b="1" i="0">
                <a:solidFill>
                  <a:srgbClr val="1677C8"/>
                </a:solidFill>
              </a:defRPr>
            </a:lvl4pPr>
            <a:lvl5pPr>
              <a:defRPr sz="900" b="1" i="0">
                <a:solidFill>
                  <a:srgbClr val="1677C8"/>
                </a:solidFill>
              </a:defRPr>
            </a:lvl5pPr>
            <a:lvl6pPr>
              <a:defRPr sz="900" b="1" i="0">
                <a:solidFill>
                  <a:srgbClr val="1677C8"/>
                </a:solidFill>
              </a:defRPr>
            </a:lvl6pPr>
            <a:lvl7pPr>
              <a:defRPr sz="900" b="1" i="0">
                <a:solidFill>
                  <a:srgbClr val="1677C8"/>
                </a:solidFill>
              </a:defRPr>
            </a:lvl7pPr>
            <a:lvl8pPr>
              <a:defRPr sz="900" b="1" i="0">
                <a:solidFill>
                  <a:srgbClr val="1677C8"/>
                </a:solidFill>
              </a:defRPr>
            </a:lvl8pPr>
            <a:lvl9pPr>
              <a:defRPr sz="900" b="1" i="0">
                <a:solidFill>
                  <a:srgbClr val="1677C8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1677C8"/>
                </a:solidFill>
              </a:defRPr>
            </a:pPr>
            <a:r>
              <a:rPr sz="900" b="1" i="0">
                <a:solidFill>
                  <a:srgbClr val="1677C8"/>
                </a:solidFill>
              </a:rPr>
              <a:t>TEXT-TO-SQL CON LORA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0525-AEFE-4AE8-B6CE-7DB5C666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 i="0">
                <a:solidFill>
                  <a:srgbClr val="0B1F3A"/>
                </a:solidFill>
              </a:defRPr>
            </a:defPPr>
            <a:lvl1pPr>
              <a:defRPr sz="2550" b="1" i="0">
                <a:solidFill>
                  <a:srgbClr val="0B1F3A"/>
                </a:solidFill>
              </a:defRPr>
            </a:lvl1pPr>
            <a:lvl2pPr>
              <a:defRPr sz="2550" b="1" i="0">
                <a:solidFill>
                  <a:srgbClr val="0B1F3A"/>
                </a:solidFill>
              </a:defRPr>
            </a:lvl2pPr>
            <a:lvl3pPr>
              <a:defRPr sz="2550" b="1" i="0">
                <a:solidFill>
                  <a:srgbClr val="0B1F3A"/>
                </a:solidFill>
              </a:defRPr>
            </a:lvl3pPr>
            <a:lvl4pPr>
              <a:defRPr sz="2550" b="1" i="0">
                <a:solidFill>
                  <a:srgbClr val="0B1F3A"/>
                </a:solidFill>
              </a:defRPr>
            </a:lvl4pPr>
            <a:lvl5pPr>
              <a:defRPr sz="2550" b="1" i="0">
                <a:solidFill>
                  <a:srgbClr val="0B1F3A"/>
                </a:solidFill>
              </a:defRPr>
            </a:lvl5pPr>
            <a:lvl6pPr>
              <a:defRPr sz="2550" b="1" i="0">
                <a:solidFill>
                  <a:srgbClr val="0B1F3A"/>
                </a:solidFill>
              </a:defRPr>
            </a:lvl6pPr>
            <a:lvl7pPr>
              <a:defRPr sz="2550" b="1" i="0">
                <a:solidFill>
                  <a:srgbClr val="0B1F3A"/>
                </a:solidFill>
              </a:defRPr>
            </a:lvl7pPr>
            <a:lvl8pPr>
              <a:defRPr sz="2550" b="1" i="0">
                <a:solidFill>
                  <a:srgbClr val="0B1F3A"/>
                </a:solidFill>
              </a:defRPr>
            </a:lvl8pPr>
            <a:lvl9pPr>
              <a:defRPr sz="2550" b="1" i="0">
                <a:solidFill>
                  <a:srgbClr val="0B1F3A"/>
                </a:solidFill>
              </a:defRPr>
            </a:lvl9pPr>
          </a:lstStyle>
          <a:p xmlns:a="http://schemas.openxmlformats.org/drawingml/2006/main">
            <a:pPr>
              <a:defRPr sz="2550" b="1" i="0">
                <a:solidFill>
                  <a:srgbClr val="0B1F3A"/>
                </a:solidFill>
              </a:defRPr>
            </a:pPr>
            <a:r>
              <a:rPr sz="2550" b="1" i="0">
                <a:solidFill>
                  <a:srgbClr val="0B1F3A"/>
                </a:solidFill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0891-99A9-4F11-8AEC-02B309CE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552FC-74BB-4293-96F6-27E8CBB2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 i="0">
                <a:solidFill>
                  <a:srgbClr val="FFFFFF"/>
                </a:solidFill>
              </a:defRPr>
            </a:defPPr>
            <a:lvl1pPr>
              <a:defRPr sz="2250" b="1" i="0">
                <a:solidFill>
                  <a:srgbClr val="FFFFFF"/>
                </a:solidFill>
              </a:defRPr>
            </a:lvl1pPr>
            <a:lvl2pPr>
              <a:defRPr sz="2250" b="1" i="0">
                <a:solidFill>
                  <a:srgbClr val="FFFFFF"/>
                </a:solidFill>
              </a:defRPr>
            </a:lvl2pPr>
            <a:lvl3pPr>
              <a:defRPr sz="2250" b="1" i="0">
                <a:solidFill>
                  <a:srgbClr val="FFFFFF"/>
                </a:solidFill>
              </a:defRPr>
            </a:lvl3pPr>
            <a:lvl4pPr>
              <a:defRPr sz="2250" b="1" i="0">
                <a:solidFill>
                  <a:srgbClr val="FFFFFF"/>
                </a:solidFill>
              </a:defRPr>
            </a:lvl4pPr>
            <a:lvl5pPr>
              <a:defRPr sz="2250" b="1" i="0">
                <a:solidFill>
                  <a:srgbClr val="FFFFFF"/>
                </a:solidFill>
              </a:defRPr>
            </a:lvl5pPr>
            <a:lvl6pPr>
              <a:defRPr sz="2250" b="1" i="0">
                <a:solidFill>
                  <a:srgbClr val="FFFFFF"/>
                </a:solidFill>
              </a:defRPr>
            </a:lvl6pPr>
            <a:lvl7pPr>
              <a:defRPr sz="2250" b="1" i="0">
                <a:solidFill>
                  <a:srgbClr val="FFFFFF"/>
                </a:solidFill>
              </a:defRPr>
            </a:lvl7pPr>
            <a:lvl8pPr>
              <a:defRPr sz="2250" b="1" i="0">
                <a:solidFill>
                  <a:srgbClr val="FFFFFF"/>
                </a:solidFill>
              </a:defRPr>
            </a:lvl8pPr>
            <a:lvl9pPr>
              <a:defRPr sz="22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El fine-tuning con LoRA elevó el EX Score de 0.1806 a 0.7222.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D7102-F30E-4015-9DE2-C68B53A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 i="0">
                <a:solidFill>
                  <a:srgbClr val="D9E8F7"/>
                </a:solidFill>
              </a:defRPr>
            </a:defPPr>
            <a:lvl1pPr>
              <a:defRPr sz="1725" b="0" i="0">
                <a:solidFill>
                  <a:srgbClr val="D9E8F7"/>
                </a:solidFill>
              </a:defRPr>
            </a:lvl1pPr>
            <a:lvl2pPr>
              <a:defRPr sz="1725" b="0" i="0">
                <a:solidFill>
                  <a:srgbClr val="D9E8F7"/>
                </a:solidFill>
              </a:defRPr>
            </a:lvl2pPr>
            <a:lvl3pPr>
              <a:defRPr sz="1725" b="0" i="0">
                <a:solidFill>
                  <a:srgbClr val="D9E8F7"/>
                </a:solidFill>
              </a:defRPr>
            </a:lvl3pPr>
            <a:lvl4pPr>
              <a:defRPr sz="1725" b="0" i="0">
                <a:solidFill>
                  <a:srgbClr val="D9E8F7"/>
                </a:solidFill>
              </a:defRPr>
            </a:lvl4pPr>
            <a:lvl5pPr>
              <a:defRPr sz="1725" b="0" i="0">
                <a:solidFill>
                  <a:srgbClr val="D9E8F7"/>
                </a:solidFill>
              </a:defRPr>
            </a:lvl5pPr>
            <a:lvl6pPr>
              <a:defRPr sz="1725" b="0" i="0">
                <a:solidFill>
                  <a:srgbClr val="D9E8F7"/>
                </a:solidFill>
              </a:defRPr>
            </a:lvl6pPr>
            <a:lvl7pPr>
              <a:defRPr sz="1725" b="0" i="0">
                <a:solidFill>
                  <a:srgbClr val="D9E8F7"/>
                </a:solidFill>
              </a:defRPr>
            </a:lvl7pPr>
            <a:lvl8pPr>
              <a:defRPr sz="1725" b="0" i="0">
                <a:solidFill>
                  <a:srgbClr val="D9E8F7"/>
                </a:solidFill>
              </a:defRPr>
            </a:lvl8pPr>
            <a:lvl9pPr>
              <a:defRPr sz="1725" b="0" i="0">
                <a:solidFill>
                  <a:srgbClr val="D9E8F7"/>
                </a:solidFill>
              </a:defRPr>
            </a:lvl9pPr>
          </a:lstStyle>
          <a:p xmlns:a="http://schemas.openxmlformats.org/drawingml/2006/main">
            <a:pPr>
              <a:defRPr sz="1725" b="0" i="0">
                <a:solidFill>
                  <a:srgbClr val="D9E8F7"/>
                </a:solidFill>
              </a:defRPr>
            </a:pPr>
            <a:r>
              <a:rPr sz="1725" b="0" i="0">
                <a:solidFill>
                  <a:srgbClr val="D9E8F7"/>
                </a:solidFill>
              </a:rPr>
              <a:t>El dataset validado y la adaptación eficiente del modelo permiten generar SQL con buen desempeño en esquemas no vistos.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F9E76-2FAC-4B17-8338-DB672175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86828-6E33-47D3-9E58-35030678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 i="0">
                <a:solidFill>
                  <a:srgbClr val="56D5F2"/>
                </a:solidFill>
              </a:defRPr>
            </a:defPPr>
            <a:lvl1pPr>
              <a:defRPr sz="1275" b="1" i="0">
                <a:solidFill>
                  <a:srgbClr val="56D5F2"/>
                </a:solidFill>
              </a:defRPr>
            </a:lvl1pPr>
            <a:lvl2pPr>
              <a:defRPr sz="1275" b="1" i="0">
                <a:solidFill>
                  <a:srgbClr val="56D5F2"/>
                </a:solidFill>
              </a:defRPr>
            </a:lvl2pPr>
            <a:lvl3pPr>
              <a:defRPr sz="1275" b="1" i="0">
                <a:solidFill>
                  <a:srgbClr val="56D5F2"/>
                </a:solidFill>
              </a:defRPr>
            </a:lvl3pPr>
            <a:lvl4pPr>
              <a:defRPr sz="1275" b="1" i="0">
                <a:solidFill>
                  <a:srgbClr val="56D5F2"/>
                </a:solidFill>
              </a:defRPr>
            </a:lvl4pPr>
            <a:lvl5pPr>
              <a:defRPr sz="1275" b="1" i="0">
                <a:solidFill>
                  <a:srgbClr val="56D5F2"/>
                </a:solidFill>
              </a:defRPr>
            </a:lvl5pPr>
            <a:lvl6pPr>
              <a:defRPr sz="1275" b="1" i="0">
                <a:solidFill>
                  <a:srgbClr val="56D5F2"/>
                </a:solidFill>
              </a:defRPr>
            </a:lvl6pPr>
            <a:lvl7pPr>
              <a:defRPr sz="1275" b="1" i="0">
                <a:solidFill>
                  <a:srgbClr val="56D5F2"/>
                </a:solidFill>
              </a:defRPr>
            </a:lvl7pPr>
            <a:lvl8pPr>
              <a:defRPr sz="1275" b="1" i="0">
                <a:solidFill>
                  <a:srgbClr val="56D5F2"/>
                </a:solidFill>
              </a:defRPr>
            </a:lvl8pPr>
            <a:lvl9pPr>
              <a:defRPr sz="1275" b="1" i="0">
                <a:solidFill>
                  <a:srgbClr val="56D5F2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56D5F2"/>
                </a:solidFill>
              </a:defRPr>
            </a:pPr>
            <a:r>
              <a:rPr sz="1275" b="1" i="0">
                <a:solidFill>
                  <a:srgbClr val="56D5F2"/>
                </a:solidFill>
              </a:rPr>
              <a:t>Siguiente paso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FE4D8-96F9-4F0A-AD49-19A905F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 i="0">
                <a:solidFill>
                  <a:srgbClr val="FFFFFF"/>
                </a:solidFill>
              </a:defRPr>
            </a:defPPr>
            <a:lvl1pPr>
              <a:defRPr sz="1650" b="0" i="0">
                <a:solidFill>
                  <a:srgbClr val="FFFFFF"/>
                </a:solidFill>
              </a:defRPr>
            </a:lvl1pPr>
            <a:lvl2pPr>
              <a:defRPr sz="1650" b="0" i="0">
                <a:solidFill>
                  <a:srgbClr val="FFFFFF"/>
                </a:solidFill>
              </a:defRPr>
            </a:lvl2pPr>
            <a:lvl3pPr>
              <a:defRPr sz="1650" b="0" i="0">
                <a:solidFill>
                  <a:srgbClr val="FFFFFF"/>
                </a:solidFill>
              </a:defRPr>
            </a:lvl3pPr>
            <a:lvl4pPr>
              <a:defRPr sz="1650" b="0" i="0">
                <a:solidFill>
                  <a:srgbClr val="FFFFFF"/>
                </a:solidFill>
              </a:defRPr>
            </a:lvl4pPr>
            <a:lvl5pPr>
              <a:defRPr sz="1650" b="0" i="0">
                <a:solidFill>
                  <a:srgbClr val="FFFFFF"/>
                </a:solidFill>
              </a:defRPr>
            </a:lvl5pPr>
            <a:lvl6pPr>
              <a:defRPr sz="1650" b="0" i="0">
                <a:solidFill>
                  <a:srgbClr val="FFFFFF"/>
                </a:solidFill>
              </a:defRPr>
            </a:lvl6pPr>
            <a:lvl7pPr>
              <a:defRPr sz="1650" b="0" i="0">
                <a:solidFill>
                  <a:srgbClr val="FFFFFF"/>
                </a:solidFill>
              </a:defRPr>
            </a:lvl7pPr>
            <a:lvl8pPr>
              <a:defRPr sz="1650" b="0" i="0">
                <a:solidFill>
                  <a:srgbClr val="FFFFFF"/>
                </a:solidFill>
              </a:defRPr>
            </a:lvl8pPr>
            <a:lvl9pPr>
              <a:defRPr sz="16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FFFFFF"/>
                </a:solidFill>
              </a:defRPr>
            </a:pPr>
            <a:r>
              <a:rPr sz="1650" b="0" i="0">
                <a:solidFill>
                  <a:srgbClr val="FFFFFF"/>
                </a:solidFill>
              </a:rPr>
              <a:t>Comparar con rank 32 y ampliar las pruebas de inferencia.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FB440-5CE9-419B-BD35-D72D7A2D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 i="0">
                <a:solidFill>
                  <a:srgbClr val="5C6B80"/>
                </a:solidFill>
              </a:defRPr>
            </a:defPPr>
            <a:lvl1pPr>
              <a:defRPr sz="750" b="0" i="0">
                <a:solidFill>
                  <a:srgbClr val="5C6B80"/>
                </a:solidFill>
              </a:defRPr>
            </a:lvl1pPr>
            <a:lvl2pPr>
              <a:defRPr sz="750" b="0" i="0">
                <a:solidFill>
                  <a:srgbClr val="5C6B80"/>
                </a:solidFill>
              </a:defRPr>
            </a:lvl2pPr>
            <a:lvl3pPr>
              <a:defRPr sz="750" b="0" i="0">
                <a:solidFill>
                  <a:srgbClr val="5C6B80"/>
                </a:solidFill>
              </a:defRPr>
            </a:lvl3pPr>
            <a:lvl4pPr>
              <a:defRPr sz="750" b="0" i="0">
                <a:solidFill>
                  <a:srgbClr val="5C6B80"/>
                </a:solidFill>
              </a:defRPr>
            </a:lvl4pPr>
            <a:lvl5pPr>
              <a:defRPr sz="750" b="0" i="0">
                <a:solidFill>
                  <a:srgbClr val="5C6B80"/>
                </a:solidFill>
              </a:defRPr>
            </a:lvl5pPr>
            <a:lvl6pPr>
              <a:defRPr sz="750" b="0" i="0">
                <a:solidFill>
                  <a:srgbClr val="5C6B80"/>
                </a:solidFill>
              </a:defRPr>
            </a:lvl6pPr>
            <a:lvl7pPr>
              <a:defRPr sz="750" b="0" i="0">
                <a:solidFill>
                  <a:srgbClr val="5C6B80"/>
                </a:solidFill>
              </a:defRPr>
            </a:lvl7pPr>
            <a:lvl8pPr>
              <a:defRPr sz="750" b="0" i="0">
                <a:solidFill>
                  <a:srgbClr val="5C6B80"/>
                </a:solidFill>
              </a:defRPr>
            </a:lvl8pPr>
            <a:lvl9pPr>
              <a:defRPr sz="750" b="0" i="0">
                <a:solidFill>
                  <a:srgbClr val="5C6B80"/>
                </a:solidFill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C6B80"/>
                </a:solidFill>
              </a:defRPr>
            </a:pPr>
            <a:r>
              <a:rPr sz="750" b="0" i="0">
                <a:solidFill>
                  <a:srgbClr val="5C6B80"/>
                </a:solidFill>
              </a:rPr>
              <a:t>Hansel López · Deep Learning 2026</a:t>
            </a:r>
          </a:p>
        </p:txBody>
      </p:sp>
    </p:spTree>
    <p:extLst>
      <p:ext uri="{BB962C8B-B14F-4D97-AF65-F5344CB8AC3E}">
        <p14:creationId xmlns:p14="http://schemas.microsoft.com/office/powerpoint/2010/main" val="1805306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2026-10-27T20:01:35.0560000Z</dcterms:created>
  <dcterms:modified xsi:type="dcterms:W3CDTF">2026-10-27T20:01:35.0560000Z</dcterms:modified>
</coreProperties>
</file>